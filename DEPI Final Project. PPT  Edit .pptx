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60" r:id="rId2"/>
    <p:sldId id="261" r:id="rId3"/>
    <p:sldId id="262" r:id="rId4"/>
    <p:sldId id="263" r:id="rId5"/>
    <p:sldId id="264" r:id="rId6"/>
    <p:sldId id="268" r:id="rId7"/>
    <p:sldId id="269" r:id="rId8"/>
    <p:sldId id="266" r:id="rId9"/>
    <p:sldId id="267" r:id="rId10"/>
    <p:sldId id="270" r:id="rId11"/>
    <p:sldId id="271" r:id="rId12"/>
  </p:sldIdLst>
  <p:sldSz cx="12192000" cy="6858000"/>
  <p:notesSz cx="6858000" cy="9144000"/>
  <p:embeddedFontLst>
    <p:embeddedFont>
      <p:font typeface="Open Sans" panose="020B0606030504020204" pitchFamily="3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jOmBtk5DbvnkierGKxpb4ZbKw0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7954"/>
    <a:srgbClr val="336EA8"/>
    <a:srgbClr val="0FAB7D"/>
    <a:srgbClr val="D7B1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snapToGrid="0">
      <p:cViewPr varScale="1">
        <p:scale>
          <a:sx n="65" d="100"/>
          <a:sy n="65" d="100"/>
        </p:scale>
        <p:origin x="92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4BD1EA51-5017-F829-AC20-7F6CE364E709}"/>
            </a:ext>
          </a:extLst>
        </p:cNvPr>
        <p:cNvGrpSpPr/>
        <p:nvPr/>
      </p:nvGrpSpPr>
      <p:grpSpPr>
        <a:xfrm>
          <a:off x="0" y="0"/>
          <a:ext cx="0" cy="0"/>
          <a:chOff x="0" y="0"/>
          <a:chExt cx="0" cy="0"/>
        </a:xfrm>
      </p:grpSpPr>
      <p:sp>
        <p:nvSpPr>
          <p:cNvPr id="188" name="Google Shape;188;p9:notes">
            <a:extLst>
              <a:ext uri="{FF2B5EF4-FFF2-40B4-BE49-F238E27FC236}">
                <a16:creationId xmlns:a16="http://schemas.microsoft.com/office/drawing/2014/main" id="{CA3AE7D6-6821-E7D1-E00C-8B988F5D7B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9:notes">
            <a:extLst>
              <a:ext uri="{FF2B5EF4-FFF2-40B4-BE49-F238E27FC236}">
                <a16:creationId xmlns:a16="http://schemas.microsoft.com/office/drawing/2014/main" id="{0AA45149-3E66-D45B-23EF-CCDEB38CAC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3079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CB64CB9A-9D9D-7893-43FC-2FED50BA5963}"/>
            </a:ext>
          </a:extLst>
        </p:cNvPr>
        <p:cNvGrpSpPr/>
        <p:nvPr/>
      </p:nvGrpSpPr>
      <p:grpSpPr>
        <a:xfrm>
          <a:off x="0" y="0"/>
          <a:ext cx="0" cy="0"/>
          <a:chOff x="0" y="0"/>
          <a:chExt cx="0" cy="0"/>
        </a:xfrm>
      </p:grpSpPr>
      <p:sp>
        <p:nvSpPr>
          <p:cNvPr id="188" name="Google Shape;188;p9:notes">
            <a:extLst>
              <a:ext uri="{FF2B5EF4-FFF2-40B4-BE49-F238E27FC236}">
                <a16:creationId xmlns:a16="http://schemas.microsoft.com/office/drawing/2014/main" id="{21464ECE-F8D1-E2B0-CD7F-4E369EAB21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9:notes">
            <a:extLst>
              <a:ext uri="{FF2B5EF4-FFF2-40B4-BE49-F238E27FC236}">
                <a16:creationId xmlns:a16="http://schemas.microsoft.com/office/drawing/2014/main" id="{7873FC25-3A8E-361B-57C3-5A6A94D5FC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4531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6FC0788C-4C01-7805-677B-589038980D3E}"/>
            </a:ext>
          </a:extLst>
        </p:cNvPr>
        <p:cNvGrpSpPr/>
        <p:nvPr/>
      </p:nvGrpSpPr>
      <p:grpSpPr>
        <a:xfrm>
          <a:off x="0" y="0"/>
          <a:ext cx="0" cy="0"/>
          <a:chOff x="0" y="0"/>
          <a:chExt cx="0" cy="0"/>
        </a:xfrm>
      </p:grpSpPr>
      <p:sp>
        <p:nvSpPr>
          <p:cNvPr id="220" name="Google Shape;220;p12:notes">
            <a:extLst>
              <a:ext uri="{FF2B5EF4-FFF2-40B4-BE49-F238E27FC236}">
                <a16:creationId xmlns:a16="http://schemas.microsoft.com/office/drawing/2014/main" id="{1BBBBEF0-91EE-6CE3-C5E3-E9133CE67E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a:extLst>
              <a:ext uri="{FF2B5EF4-FFF2-40B4-BE49-F238E27FC236}">
                <a16:creationId xmlns:a16="http://schemas.microsoft.com/office/drawing/2014/main" id="{C11C992D-A6E5-86EC-97F9-C5CFF0F0C2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0309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608EDF6A-25E9-A528-5C1F-519C425CF736}"/>
            </a:ext>
          </a:extLst>
        </p:cNvPr>
        <p:cNvGrpSpPr/>
        <p:nvPr/>
      </p:nvGrpSpPr>
      <p:grpSpPr>
        <a:xfrm>
          <a:off x="0" y="0"/>
          <a:ext cx="0" cy="0"/>
          <a:chOff x="0" y="0"/>
          <a:chExt cx="0" cy="0"/>
        </a:xfrm>
      </p:grpSpPr>
      <p:sp>
        <p:nvSpPr>
          <p:cNvPr id="220" name="Google Shape;220;p12:notes">
            <a:extLst>
              <a:ext uri="{FF2B5EF4-FFF2-40B4-BE49-F238E27FC236}">
                <a16:creationId xmlns:a16="http://schemas.microsoft.com/office/drawing/2014/main" id="{ECE5472A-C255-BEBB-F834-B1ED5BBB31A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a:extLst>
              <a:ext uri="{FF2B5EF4-FFF2-40B4-BE49-F238E27FC236}">
                <a16:creationId xmlns:a16="http://schemas.microsoft.com/office/drawing/2014/main" id="{A0DDDF34-99D0-62EE-9A1E-1489A20651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6460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40" name="Google Shape;40;p17"/>
          <p:cNvPicPr preferRelativeResize="0"/>
          <p:nvPr/>
        </p:nvPicPr>
        <p:blipFill rotWithShape="1">
          <a:blip r:embed="rId2">
            <a:alphaModFix/>
          </a:blip>
          <a:srcRect/>
          <a:stretch/>
        </p:blipFill>
        <p:spPr>
          <a:xfrm>
            <a:off x="10711512" y="330213"/>
            <a:ext cx="1284576" cy="637759"/>
          </a:xfrm>
          <a:prstGeom prst="rect">
            <a:avLst/>
          </a:prstGeom>
          <a:noFill/>
          <a:ln>
            <a:noFill/>
          </a:ln>
        </p:spPr>
      </p:pic>
      <p:pic>
        <p:nvPicPr>
          <p:cNvPr id="41" name="Google Shape;41;p17"/>
          <p:cNvPicPr preferRelativeResize="0"/>
          <p:nvPr/>
        </p:nvPicPr>
        <p:blipFill rotWithShape="1">
          <a:blip r:embed="rId3">
            <a:alphaModFix/>
          </a:blip>
          <a:srcRect/>
          <a:stretch/>
        </p:blipFill>
        <p:spPr>
          <a:xfrm>
            <a:off x="93317" y="0"/>
            <a:ext cx="1489765" cy="1386637"/>
          </a:xfrm>
          <a:prstGeom prst="rect">
            <a:avLst/>
          </a:prstGeom>
          <a:noFill/>
          <a:ln>
            <a:noFill/>
          </a:ln>
        </p:spPr>
      </p:pic>
      <p:sp>
        <p:nvSpPr>
          <p:cNvPr id="42" name="Google Shape;4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alphaModFix/>
          </a:blip>
          <a:src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alphaModFix/>
          </a:blip>
          <a:src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1" name="Google Shape;51;p18"/>
          <p:cNvPicPr preferRelativeResize="0"/>
          <p:nvPr/>
        </p:nvPicPr>
        <p:blipFill rotWithShape="1">
          <a:blip r:embed="rId4">
            <a:alphaModFix/>
          </a:blip>
          <a:src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4">
            <a:alphaModFix/>
          </a:blip>
          <a:src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5">
            <a:alphaModFix/>
          </a:blip>
          <a:src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pic>
        <p:nvPicPr>
          <p:cNvPr id="13" name="Google Shape;13;p13"/>
          <p:cNvPicPr preferRelativeResize="0"/>
          <p:nvPr/>
        </p:nvPicPr>
        <p:blipFill rotWithShape="1">
          <a:blip r:embed="rId16">
            <a:alphaModFix/>
          </a:blip>
          <a:src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hyperlink" Target="http://www.linkedin.com/in/dina-ayman-darwish-a85405355/" TargetMode="External"/><Relationship Id="rId3" Type="http://schemas.openxmlformats.org/officeDocument/2006/relationships/image" Target="../media/image5.png"/><Relationship Id="rId7" Type="http://schemas.openxmlformats.org/officeDocument/2006/relationships/hyperlink" Target="mailto:https://www.linkedin.com/in/ahmed-hamada-farag-a48b77378/?subject=www.linkedin.com/in/ahmed-hamada-farag-a48b77378/"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www.linkedin.com/in/esraa-atef-5a821430b/" TargetMode="External"/><Relationship Id="rId5" Type="http://schemas.openxmlformats.org/officeDocument/2006/relationships/hyperlink" Target="http://www.linkedin.com/in/shahd-abdelnaaby/" TargetMode="External"/><Relationship Id="rId4" Type="http://schemas.openxmlformats.org/officeDocument/2006/relationships/hyperlink" Target="mailto:www.linkedin.com/in/shahd-abdelnaaby?subject=www.linkedin.com/in/shahd-abdelnaab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46" name="Google Shape;146;p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47" name="Google Shape;147;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148" name="Google Shape;148;p5"/>
          <p:cNvSpPr txBox="1"/>
          <p:nvPr/>
        </p:nvSpPr>
        <p:spPr>
          <a:xfrm>
            <a:off x="323665" y="1347629"/>
            <a:ext cx="3111685" cy="365125"/>
          </a:xfrm>
          <a:prstGeom prst="rect">
            <a:avLst/>
          </a:prstGeom>
          <a:noFill/>
          <a:ln>
            <a:noFill/>
          </a:ln>
        </p:spPr>
        <p:txBody>
          <a:bodyPr spcFirstLastPara="1" wrap="square" lIns="91425" tIns="45700" rIns="91425" bIns="45700" anchor="t" anchorCtr="0">
            <a:normAutofit fontScale="75000" lnSpcReduction="20000"/>
          </a:bodyPr>
          <a:lstStyle/>
          <a:p>
            <a:pPr marL="0" marR="0" lvl="0" indent="0" algn="l" rtl="0">
              <a:lnSpc>
                <a:spcPct val="90000"/>
              </a:lnSpc>
              <a:spcBef>
                <a:spcPts val="0"/>
              </a:spcBef>
              <a:spcAft>
                <a:spcPts val="0"/>
              </a:spcAft>
              <a:buClr>
                <a:srgbClr val="FF0000"/>
              </a:buClr>
              <a:buSzPct val="100000"/>
              <a:buFont typeface="Arial"/>
              <a:buNone/>
            </a:pPr>
            <a:r>
              <a:rPr lang="en-US" sz="2200" b="1" i="0" u="none" strike="noStrike" cap="none">
                <a:solidFill>
                  <a:srgbClr val="FF0000"/>
                </a:solidFill>
                <a:latin typeface="Arial"/>
                <a:ea typeface="Arial"/>
                <a:cs typeface="Arial"/>
                <a:sym typeface="Arial"/>
              </a:rPr>
              <a:t>MANDATORY</a:t>
            </a:r>
            <a:r>
              <a:rPr lang="en-US" sz="2200" b="1" i="0" u="none" strike="noStrike" cap="none">
                <a:solidFill>
                  <a:srgbClr val="0D0D0D"/>
                </a:solidFill>
                <a:latin typeface="Arial"/>
                <a:ea typeface="Arial"/>
                <a:cs typeface="Arial"/>
                <a:sym typeface="Arial"/>
              </a:rPr>
              <a:t> Color Scheme </a:t>
            </a:r>
            <a:endParaRPr/>
          </a:p>
        </p:txBody>
      </p:sp>
      <p:pic>
        <p:nvPicPr>
          <p:cNvPr id="149" name="Google Shape;149;p5"/>
          <p:cNvPicPr preferRelativeResize="0"/>
          <p:nvPr/>
        </p:nvPicPr>
        <p:blipFill rotWithShape="1">
          <a:blip r:embed="rId3">
            <a:alphaModFix/>
          </a:blip>
          <a:srcRect r="37210"/>
          <a:stretch/>
        </p:blipFill>
        <p:spPr>
          <a:xfrm>
            <a:off x="3581401" y="833618"/>
            <a:ext cx="3259238" cy="5190763"/>
          </a:xfrm>
          <a:prstGeom prst="rect">
            <a:avLst/>
          </a:prstGeom>
          <a:noFill/>
          <a:ln>
            <a:noFill/>
          </a:ln>
        </p:spPr>
      </p:pic>
      <p:sp>
        <p:nvSpPr>
          <p:cNvPr id="150" name="Google Shape;150;p5"/>
          <p:cNvSpPr txBox="1"/>
          <p:nvPr/>
        </p:nvSpPr>
        <p:spPr>
          <a:xfrm>
            <a:off x="5009459" y="1874237"/>
            <a:ext cx="141049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Open Sans"/>
                <a:ea typeface="Open Sans"/>
                <a:cs typeface="Open Sans"/>
                <a:sym typeface="Open Sans"/>
              </a:rPr>
              <a:t>#047954</a:t>
            </a:r>
            <a:endParaRPr sz="1800" dirty="0">
              <a:solidFill>
                <a:schemeClr val="dk1"/>
              </a:solidFill>
              <a:latin typeface="Calibri"/>
              <a:ea typeface="Calibri"/>
              <a:cs typeface="Calibri"/>
              <a:sym typeface="Calibri"/>
            </a:endParaRPr>
          </a:p>
        </p:txBody>
      </p:sp>
      <p:sp>
        <p:nvSpPr>
          <p:cNvPr id="151" name="Google Shape;151;p5"/>
          <p:cNvSpPr txBox="1"/>
          <p:nvPr/>
        </p:nvSpPr>
        <p:spPr>
          <a:xfrm>
            <a:off x="4843718" y="3139510"/>
            <a:ext cx="105150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dirty="0">
                <a:solidFill>
                  <a:schemeClr val="dk1"/>
                </a:solidFill>
                <a:latin typeface="Open Sans"/>
                <a:ea typeface="Open Sans"/>
                <a:cs typeface="Open Sans"/>
                <a:sym typeface="Open Sans"/>
              </a:rPr>
              <a:t>#0FAB7D</a:t>
            </a:r>
            <a:endParaRPr sz="1800" dirty="0">
              <a:solidFill>
                <a:schemeClr val="dk1"/>
              </a:solidFill>
              <a:latin typeface="Calibri"/>
              <a:ea typeface="Calibri"/>
              <a:cs typeface="Calibri"/>
              <a:sym typeface="Calibri"/>
            </a:endParaRPr>
          </a:p>
        </p:txBody>
      </p:sp>
      <p:sp>
        <p:nvSpPr>
          <p:cNvPr id="152" name="Google Shape;152;p5"/>
          <p:cNvSpPr txBox="1"/>
          <p:nvPr/>
        </p:nvSpPr>
        <p:spPr>
          <a:xfrm>
            <a:off x="4854747" y="4212613"/>
            <a:ext cx="141049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dirty="0">
                <a:solidFill>
                  <a:schemeClr val="dk1"/>
                </a:solidFill>
                <a:latin typeface="Open Sans"/>
                <a:ea typeface="Open Sans"/>
                <a:cs typeface="Open Sans"/>
                <a:sym typeface="Open Sans"/>
              </a:rPr>
              <a:t>#336EA8</a:t>
            </a:r>
            <a:endParaRPr sz="1800" dirty="0">
              <a:solidFill>
                <a:schemeClr val="dk1"/>
              </a:solidFill>
              <a:latin typeface="Calibri"/>
              <a:ea typeface="Calibri"/>
              <a:cs typeface="Calibri"/>
              <a:sym typeface="Calibri"/>
            </a:endParaRPr>
          </a:p>
        </p:txBody>
      </p:sp>
      <p:sp>
        <p:nvSpPr>
          <p:cNvPr id="153" name="Google Shape;153;p5"/>
          <p:cNvSpPr txBox="1"/>
          <p:nvPr/>
        </p:nvSpPr>
        <p:spPr>
          <a:xfrm>
            <a:off x="4863564" y="5141039"/>
            <a:ext cx="105349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dirty="0">
                <a:solidFill>
                  <a:schemeClr val="dk1"/>
                </a:solidFill>
                <a:latin typeface="Open Sans"/>
                <a:ea typeface="Open Sans"/>
                <a:cs typeface="Open Sans"/>
                <a:sym typeface="Open Sans"/>
              </a:rPr>
              <a:t>#D7B119</a:t>
            </a:r>
            <a:endParaRPr sz="1800" dirty="0">
              <a:solidFill>
                <a:schemeClr val="dk1"/>
              </a:solidFill>
              <a:latin typeface="Calibri"/>
              <a:ea typeface="Calibri"/>
              <a:cs typeface="Calibri"/>
              <a:sym typeface="Calibri"/>
            </a:endParaRPr>
          </a:p>
        </p:txBody>
      </p:sp>
      <p:sp>
        <p:nvSpPr>
          <p:cNvPr id="154" name="Google Shape;154;p5"/>
          <p:cNvSpPr txBox="1"/>
          <p:nvPr/>
        </p:nvSpPr>
        <p:spPr>
          <a:xfrm>
            <a:off x="317315" y="1754630"/>
            <a:ext cx="2743200" cy="1590321"/>
          </a:xfrm>
          <a:prstGeom prst="rect">
            <a:avLst/>
          </a:prstGeom>
          <a:noFill/>
          <a:ln>
            <a:noFill/>
          </a:ln>
        </p:spPr>
        <p:txBody>
          <a:bodyPr spcFirstLastPara="1" wrap="square" lIns="91425" tIns="45700" rIns="91425" bIns="45700" anchor="ctr" anchorCtr="0">
            <a:normAutofit fontScale="97500"/>
          </a:bodyPr>
          <a:lstStyle/>
          <a:p>
            <a:pPr marL="0" marR="0" lvl="0" indent="0" algn="l" rtl="0">
              <a:lnSpc>
                <a:spcPct val="90000"/>
              </a:lnSpc>
              <a:spcBef>
                <a:spcPts val="0"/>
              </a:spcBef>
              <a:spcAft>
                <a:spcPts val="0"/>
              </a:spcAft>
              <a:buClr>
                <a:srgbClr val="FF0000"/>
              </a:buClr>
              <a:buSzPct val="100000"/>
              <a:buFont typeface="Arial"/>
              <a:buNone/>
            </a:pPr>
            <a:r>
              <a:rPr lang="en-US" sz="2000" b="1" u="none">
                <a:solidFill>
                  <a:srgbClr val="FF0000"/>
                </a:solidFill>
                <a:latin typeface="Arial"/>
                <a:ea typeface="Arial"/>
                <a:cs typeface="Arial"/>
                <a:sym typeface="Arial"/>
              </a:rPr>
              <a:t>Note: </a:t>
            </a:r>
            <a:r>
              <a:rPr lang="en-US" sz="2000" b="1" u="none">
                <a:solidFill>
                  <a:srgbClr val="0D0D0D"/>
                </a:solidFill>
                <a:latin typeface="Arial"/>
                <a:ea typeface="Arial"/>
                <a:cs typeface="Arial"/>
                <a:sym typeface="Arial"/>
              </a:rPr>
              <a:t>This is the official</a:t>
            </a:r>
            <a:endParaRPr/>
          </a:p>
          <a:p>
            <a:pPr marL="0" marR="0" lvl="0" indent="0" algn="l" rtl="0">
              <a:lnSpc>
                <a:spcPct val="90000"/>
              </a:lnSpc>
              <a:spcBef>
                <a:spcPts val="0"/>
              </a:spcBef>
              <a:spcAft>
                <a:spcPts val="0"/>
              </a:spcAft>
              <a:buClr>
                <a:srgbClr val="0D0D0D"/>
              </a:buClr>
              <a:buSzPct val="100000"/>
              <a:buFont typeface="Arial"/>
              <a:buNone/>
            </a:pPr>
            <a:r>
              <a:rPr lang="en-US" sz="2000" b="1" u="none">
                <a:solidFill>
                  <a:srgbClr val="0D0D0D"/>
                </a:solidFill>
                <a:latin typeface="Arial"/>
                <a:ea typeface="Arial"/>
                <a:cs typeface="Arial"/>
                <a:sym typeface="Arial"/>
              </a:rPr>
              <a:t> color scheme for DEPI</a:t>
            </a:r>
            <a:endParaRPr/>
          </a:p>
          <a:p>
            <a:pPr marL="0" marR="0" lvl="0" indent="0" algn="l" rtl="0">
              <a:lnSpc>
                <a:spcPct val="90000"/>
              </a:lnSpc>
              <a:spcBef>
                <a:spcPts val="0"/>
              </a:spcBef>
              <a:spcAft>
                <a:spcPts val="0"/>
              </a:spcAft>
              <a:buClr>
                <a:srgbClr val="0D0D0D"/>
              </a:buClr>
              <a:buSzPct val="100000"/>
              <a:buFont typeface="Arial"/>
              <a:buNone/>
            </a:pPr>
            <a:r>
              <a:rPr lang="en-US" sz="2000" b="1" u="none">
                <a:solidFill>
                  <a:srgbClr val="0D0D0D"/>
                </a:solidFill>
                <a:latin typeface="Arial"/>
                <a:ea typeface="Arial"/>
                <a:cs typeface="Arial"/>
                <a:sym typeface="Arial"/>
              </a:rPr>
              <a:t> Feel free To use it  </a:t>
            </a:r>
            <a:endParaRPr sz="2000" b="1" u="none">
              <a:solidFill>
                <a:schemeClr val="dk1"/>
              </a:solidFill>
              <a:latin typeface="Calibri"/>
              <a:ea typeface="Calibri"/>
              <a:cs typeface="Calibri"/>
              <a:sym typeface="Calibri"/>
            </a:endParaRPr>
          </a:p>
        </p:txBody>
      </p:sp>
      <p:pic>
        <p:nvPicPr>
          <p:cNvPr id="2" name="Google Shape;110;p1">
            <a:extLst>
              <a:ext uri="{FF2B5EF4-FFF2-40B4-BE49-F238E27FC236}">
                <a16:creationId xmlns:a16="http://schemas.microsoft.com/office/drawing/2014/main" id="{AA3780D9-C96C-A177-A872-B92ACFDD1291}"/>
              </a:ext>
            </a:extLst>
          </p:cNvPr>
          <p:cNvPicPr preferRelativeResize="0"/>
          <p:nvPr/>
        </p:nvPicPr>
        <p:blipFill>
          <a:blip r:embed="rId4"/>
          <a:srcRect/>
          <a:stretch/>
        </p:blipFill>
        <p:spPr>
          <a:xfrm>
            <a:off x="9010943" y="6291124"/>
            <a:ext cx="1362250" cy="365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lvl="0"/>
            <a:r>
              <a:rPr lang="en-US" sz="4400" dirty="0">
                <a:solidFill>
                  <a:srgbClr val="047954"/>
                </a:solidFill>
              </a:rPr>
              <a:t>Renewable Energy Suitability Analysis</a:t>
            </a:r>
            <a:endParaRPr sz="4400" dirty="0">
              <a:solidFill>
                <a:srgbClr val="047954"/>
              </a:solidFill>
            </a:endParaRPr>
          </a:p>
        </p:txBody>
      </p:sp>
      <p:sp>
        <p:nvSpPr>
          <p:cNvPr id="161" name="Google Shape;161;p6"/>
          <p:cNvSpPr txBox="1">
            <a:spLocks noGrp="1"/>
          </p:cNvSpPr>
          <p:nvPr>
            <p:ph type="subTitle" idx="1"/>
          </p:nvPr>
        </p:nvSpPr>
        <p:spPr>
          <a:xfrm>
            <a:off x="1524000" y="3602037"/>
            <a:ext cx="9144000" cy="2238323"/>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US" b="1" dirty="0">
                <a:solidFill>
                  <a:srgbClr val="336EA8"/>
                </a:solidFill>
              </a:rPr>
              <a:t>Presented by:</a:t>
            </a:r>
            <a:endParaRPr lang="ar-EG" b="1" dirty="0">
              <a:solidFill>
                <a:srgbClr val="336EA8"/>
              </a:solidFill>
            </a:endParaRPr>
          </a:p>
          <a:p>
            <a:pPr marL="0" lvl="0" indent="0" algn="l">
              <a:spcBef>
                <a:spcPts val="0"/>
              </a:spcBef>
            </a:pPr>
            <a:r>
              <a:rPr lang="en-US" dirty="0">
                <a:solidFill>
                  <a:srgbClr val="0FAB7D"/>
                </a:solidFill>
              </a:rPr>
              <a:t>Shahd Abdelnaby </a:t>
            </a:r>
          </a:p>
          <a:p>
            <a:pPr marL="0" lvl="0" indent="0" algn="l">
              <a:spcBef>
                <a:spcPts val="0"/>
              </a:spcBef>
            </a:pPr>
            <a:r>
              <a:rPr lang="en-US" dirty="0">
                <a:solidFill>
                  <a:srgbClr val="0FAB7D"/>
                </a:solidFill>
              </a:rPr>
              <a:t>Esraa Atef </a:t>
            </a:r>
          </a:p>
          <a:p>
            <a:pPr marL="0" lvl="0" indent="0" algn="l">
              <a:spcBef>
                <a:spcPts val="0"/>
              </a:spcBef>
            </a:pPr>
            <a:r>
              <a:rPr lang="en-US" dirty="0">
                <a:solidFill>
                  <a:srgbClr val="0FAB7D"/>
                </a:solidFill>
              </a:rPr>
              <a:t>Ahmed Hamada</a:t>
            </a:r>
          </a:p>
          <a:p>
            <a:pPr marL="0" lvl="0" indent="0" algn="l">
              <a:spcBef>
                <a:spcPts val="0"/>
              </a:spcBef>
            </a:pPr>
            <a:r>
              <a:rPr lang="en-US" dirty="0">
                <a:solidFill>
                  <a:srgbClr val="0FAB7D"/>
                </a:solidFill>
              </a:rPr>
              <a:t>Mohamed Hussain</a:t>
            </a:r>
          </a:p>
          <a:p>
            <a:pPr marL="0" lvl="0" indent="0" algn="l">
              <a:spcBef>
                <a:spcPts val="0"/>
              </a:spcBef>
            </a:pPr>
            <a:r>
              <a:rPr lang="en-US" dirty="0">
                <a:solidFill>
                  <a:srgbClr val="0FAB7D"/>
                </a:solidFill>
              </a:rPr>
              <a:t>Dina Ayman </a:t>
            </a:r>
            <a:endParaRPr lang="ar-EG" dirty="0">
              <a:solidFill>
                <a:srgbClr val="0FAB7D"/>
              </a:solidFill>
            </a:endParaRPr>
          </a:p>
          <a:p>
            <a:pPr marL="0" lvl="0" indent="0">
              <a:spcBef>
                <a:spcPts val="0"/>
              </a:spcBef>
            </a:pPr>
            <a:endParaRPr dirty="0"/>
          </a:p>
        </p:txBody>
      </p:sp>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63" name="Google Shape;163;p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pic>
        <p:nvPicPr>
          <p:cNvPr id="2" name="Google Shape;110;p1">
            <a:extLst>
              <a:ext uri="{FF2B5EF4-FFF2-40B4-BE49-F238E27FC236}">
                <a16:creationId xmlns:a16="http://schemas.microsoft.com/office/drawing/2014/main" id="{D76960BE-DA68-AD54-037E-4185C12CA702}"/>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a:spLocks noGrp="1"/>
          </p:cNvSpPr>
          <p:nvPr>
            <p:ph type="title"/>
          </p:nvPr>
        </p:nvSpPr>
        <p:spPr>
          <a:xfrm>
            <a:off x="398206" y="766916"/>
            <a:ext cx="11271925" cy="5309419"/>
          </a:xfrm>
          <a:prstGeom prst="rect">
            <a:avLst/>
          </a:prstGeom>
          <a:noFill/>
          <a:ln>
            <a:noFill/>
          </a:ln>
        </p:spPr>
        <p:txBody>
          <a:bodyPr spcFirstLastPara="1" wrap="square" lIns="91425" tIns="45700" rIns="91425" bIns="45700" anchor="ctr" anchorCtr="0">
            <a:normAutofit/>
          </a:bodyPr>
          <a:lstStyle/>
          <a:p>
            <a:r>
              <a:rPr lang="en-US" sz="1400" b="1" dirty="0">
                <a:solidFill>
                  <a:srgbClr val="047954"/>
                </a:solidFill>
              </a:rPr>
              <a:t>1. Problem Being Solved</a:t>
            </a:r>
            <a:br>
              <a:rPr lang="en-US" sz="1400" b="1" dirty="0"/>
            </a:br>
            <a:r>
              <a:rPr lang="en-US" sz="1400" dirty="0">
                <a:solidFill>
                  <a:srgbClr val="336EA8"/>
                </a:solidFill>
              </a:rPr>
              <a:t>Choosing the right locations to install solar or wind energy systems is difficult because every area has different environmental conditions.</a:t>
            </a:r>
            <a:br>
              <a:rPr lang="en-US" sz="1400" dirty="0">
                <a:solidFill>
                  <a:srgbClr val="336EA8"/>
                </a:solidFill>
              </a:rPr>
            </a:br>
            <a:r>
              <a:rPr lang="en-US" sz="1400" dirty="0">
                <a:solidFill>
                  <a:srgbClr val="336EA8"/>
                </a:solidFill>
              </a:rPr>
              <a:t>Some places have high sunlight (DNI), others have strong wind (MS50M), while some have high humidity or temperature that reduce efficiency.</a:t>
            </a:r>
            <a:br>
              <a:rPr lang="en-US" sz="1400" dirty="0">
                <a:solidFill>
                  <a:srgbClr val="336EA8"/>
                </a:solidFill>
              </a:rPr>
            </a:br>
            <a:r>
              <a:rPr lang="en-US" sz="1400" dirty="0">
                <a:solidFill>
                  <a:srgbClr val="336EA8"/>
                </a:solidFill>
              </a:rPr>
              <a:t>So, without proper analysis, decisions can be inaccurate and expensive.</a:t>
            </a:r>
            <a:br>
              <a:rPr lang="ar-EG" sz="1400" dirty="0"/>
            </a:br>
            <a:br>
              <a:rPr lang="en-US" sz="1400" dirty="0"/>
            </a:br>
            <a:r>
              <a:rPr lang="en-US" sz="1400" b="1" dirty="0">
                <a:solidFill>
                  <a:srgbClr val="047954"/>
                </a:solidFill>
              </a:rPr>
              <a:t>2. Proposed Solution (Our High-Level Idea)</a:t>
            </a:r>
            <a:br>
              <a:rPr lang="en-US" sz="1400" b="1" dirty="0"/>
            </a:br>
            <a:r>
              <a:rPr lang="en-US" sz="1400" dirty="0">
                <a:solidFill>
                  <a:srgbClr val="336EA8"/>
                </a:solidFill>
              </a:rPr>
              <a:t>We analyzed </a:t>
            </a:r>
            <a:r>
              <a:rPr lang="en-US" sz="1400" b="1" dirty="0">
                <a:solidFill>
                  <a:srgbClr val="336EA8"/>
                </a:solidFill>
              </a:rPr>
              <a:t>15 different locations</a:t>
            </a:r>
            <a:r>
              <a:rPr lang="en-US" sz="1400" dirty="0">
                <a:solidFill>
                  <a:srgbClr val="336EA8"/>
                </a:solidFill>
              </a:rPr>
              <a:t> using key environmental indicators:</a:t>
            </a:r>
            <a:br>
              <a:rPr lang="en-US" sz="1400" dirty="0">
                <a:solidFill>
                  <a:srgbClr val="336EA8"/>
                </a:solidFill>
              </a:rPr>
            </a:br>
            <a:r>
              <a:rPr lang="en-US" sz="1400" b="1" dirty="0">
                <a:solidFill>
                  <a:srgbClr val="336EA8"/>
                </a:solidFill>
              </a:rPr>
              <a:t>DNI, Wind Speed (MS50M), KT, Humidity (R2HM), Temperature (T2M), and Wind Range.</a:t>
            </a:r>
            <a:br>
              <a:rPr lang="en-US" sz="1400" dirty="0">
                <a:solidFill>
                  <a:srgbClr val="336EA8"/>
                </a:solidFill>
              </a:rPr>
            </a:br>
            <a:r>
              <a:rPr lang="en-US" sz="1400" dirty="0">
                <a:solidFill>
                  <a:srgbClr val="336EA8"/>
                </a:solidFill>
              </a:rPr>
              <a:t>We cleaned the data, normalized it, scored every location, and compared them in Power BI.</a:t>
            </a:r>
            <a:br>
              <a:rPr lang="en-US" sz="1400" dirty="0">
                <a:solidFill>
                  <a:srgbClr val="336EA8"/>
                </a:solidFill>
              </a:rPr>
            </a:br>
            <a:r>
              <a:rPr lang="en-US" sz="1400" dirty="0">
                <a:solidFill>
                  <a:srgbClr val="336EA8"/>
                </a:solidFill>
              </a:rPr>
              <a:t>This allows us to clearly identify:</a:t>
            </a:r>
            <a:br>
              <a:rPr lang="en-US" sz="1400" dirty="0">
                <a:solidFill>
                  <a:srgbClr val="336EA8"/>
                </a:solidFill>
              </a:rPr>
            </a:br>
            <a:r>
              <a:rPr lang="en-US" sz="1400" dirty="0">
                <a:solidFill>
                  <a:srgbClr val="336EA8"/>
                </a:solidFill>
              </a:rPr>
              <a:t>Best locations for </a:t>
            </a:r>
            <a:r>
              <a:rPr lang="en-US" sz="1400" b="1" dirty="0">
                <a:solidFill>
                  <a:srgbClr val="336EA8"/>
                </a:solidFill>
              </a:rPr>
              <a:t>solar energy</a:t>
            </a:r>
            <a:br>
              <a:rPr lang="en-US" sz="1400" dirty="0">
                <a:solidFill>
                  <a:srgbClr val="336EA8"/>
                </a:solidFill>
              </a:rPr>
            </a:br>
            <a:r>
              <a:rPr lang="en-US" sz="1400" dirty="0">
                <a:solidFill>
                  <a:srgbClr val="336EA8"/>
                </a:solidFill>
              </a:rPr>
              <a:t>Best locations for </a:t>
            </a:r>
            <a:r>
              <a:rPr lang="en-US" sz="1400" b="1" dirty="0">
                <a:solidFill>
                  <a:srgbClr val="336EA8"/>
                </a:solidFill>
              </a:rPr>
              <a:t>wind energy</a:t>
            </a:r>
            <a:br>
              <a:rPr lang="en-US" sz="1400" dirty="0">
                <a:solidFill>
                  <a:srgbClr val="336EA8"/>
                </a:solidFill>
              </a:rPr>
            </a:br>
            <a:r>
              <a:rPr lang="en-US" sz="1400" dirty="0">
                <a:solidFill>
                  <a:srgbClr val="336EA8"/>
                </a:solidFill>
              </a:rPr>
              <a:t>Best locations for a </a:t>
            </a:r>
            <a:r>
              <a:rPr lang="en-US" sz="1400" b="1" dirty="0">
                <a:solidFill>
                  <a:srgbClr val="336EA8"/>
                </a:solidFill>
              </a:rPr>
              <a:t>hybrid system</a:t>
            </a:r>
            <a:r>
              <a:rPr lang="en-US" sz="1400" dirty="0">
                <a:solidFill>
                  <a:srgbClr val="336EA8"/>
                </a:solidFill>
              </a:rPr>
              <a:t> (solar + wind)</a:t>
            </a:r>
            <a:br>
              <a:rPr lang="ar-EG" sz="1400" dirty="0"/>
            </a:br>
            <a:br>
              <a:rPr lang="en-US" sz="1400" dirty="0">
                <a:solidFill>
                  <a:srgbClr val="047954"/>
                </a:solidFill>
              </a:rPr>
            </a:br>
            <a:r>
              <a:rPr lang="en-US" sz="1400" b="1" dirty="0">
                <a:solidFill>
                  <a:srgbClr val="047954"/>
                </a:solidFill>
              </a:rPr>
              <a:t>3. Unique Value of Our Project (Why It Stands Out)</a:t>
            </a:r>
            <a:br>
              <a:rPr lang="en-US" sz="1400" b="1" dirty="0"/>
            </a:br>
            <a:r>
              <a:rPr lang="en-US" sz="1400" dirty="0">
                <a:solidFill>
                  <a:srgbClr val="336EA8"/>
                </a:solidFill>
              </a:rPr>
              <a:t>We combined </a:t>
            </a:r>
            <a:r>
              <a:rPr lang="en-US" sz="1400" b="1" dirty="0">
                <a:solidFill>
                  <a:srgbClr val="336EA8"/>
                </a:solidFill>
              </a:rPr>
              <a:t>solar + wind + hybrid</a:t>
            </a:r>
            <a:r>
              <a:rPr lang="en-US" sz="1400" dirty="0">
                <a:solidFill>
                  <a:srgbClr val="336EA8"/>
                </a:solidFill>
              </a:rPr>
              <a:t> analysis in one project (rare and more impactful).</a:t>
            </a:r>
            <a:br>
              <a:rPr lang="en-US" sz="1400" dirty="0">
                <a:solidFill>
                  <a:srgbClr val="336EA8"/>
                </a:solidFill>
              </a:rPr>
            </a:br>
            <a:r>
              <a:rPr lang="en-US" sz="1400" dirty="0">
                <a:solidFill>
                  <a:srgbClr val="336EA8"/>
                </a:solidFill>
              </a:rPr>
              <a:t>We used a </a:t>
            </a:r>
            <a:r>
              <a:rPr lang="en-US" sz="1400" b="1" dirty="0">
                <a:solidFill>
                  <a:srgbClr val="336EA8"/>
                </a:solidFill>
              </a:rPr>
              <a:t>multi-criteria scoring model</a:t>
            </a:r>
            <a:r>
              <a:rPr lang="en-US" sz="1400" dirty="0">
                <a:solidFill>
                  <a:srgbClr val="336EA8"/>
                </a:solidFill>
              </a:rPr>
              <a:t>, making the ranking accurate and reliable.</a:t>
            </a:r>
            <a:br>
              <a:rPr lang="en-US" sz="1400" dirty="0">
                <a:solidFill>
                  <a:srgbClr val="336EA8"/>
                </a:solidFill>
              </a:rPr>
            </a:br>
            <a:r>
              <a:rPr lang="en-US" sz="1400" dirty="0">
                <a:solidFill>
                  <a:srgbClr val="336EA8"/>
                </a:solidFill>
              </a:rPr>
              <a:t>We built an </a:t>
            </a:r>
            <a:r>
              <a:rPr lang="en-US" sz="1400" b="1" dirty="0">
                <a:solidFill>
                  <a:srgbClr val="336EA8"/>
                </a:solidFill>
              </a:rPr>
              <a:t>interactive Power BI dashboard</a:t>
            </a:r>
            <a:r>
              <a:rPr lang="en-US" sz="1400" dirty="0">
                <a:solidFill>
                  <a:srgbClr val="336EA8"/>
                </a:solidFill>
              </a:rPr>
              <a:t> that allows users to explore every location easily.</a:t>
            </a:r>
            <a:br>
              <a:rPr lang="en-US" sz="1400" dirty="0">
                <a:solidFill>
                  <a:srgbClr val="336EA8"/>
                </a:solidFill>
              </a:rPr>
            </a:br>
            <a:r>
              <a:rPr lang="en-US" sz="1400" dirty="0">
                <a:solidFill>
                  <a:srgbClr val="336EA8"/>
                </a:solidFill>
              </a:rPr>
              <a:t>Our model helps decision-makers choose the best sites faster and reduce investment risks.</a:t>
            </a:r>
            <a:br>
              <a:rPr lang="en-US" sz="1400" dirty="0">
                <a:solidFill>
                  <a:srgbClr val="336EA8"/>
                </a:solidFill>
              </a:rPr>
            </a:br>
            <a:r>
              <a:rPr lang="en-US" sz="1400" dirty="0">
                <a:solidFill>
                  <a:srgbClr val="336EA8"/>
                </a:solidFill>
              </a:rPr>
              <a:t>The approach is </a:t>
            </a:r>
            <a:r>
              <a:rPr lang="en-US" sz="1400" b="1" dirty="0">
                <a:solidFill>
                  <a:srgbClr val="336EA8"/>
                </a:solidFill>
              </a:rPr>
              <a:t>scalable</a:t>
            </a:r>
            <a:r>
              <a:rPr lang="en-US" sz="1400" dirty="0">
                <a:solidFill>
                  <a:srgbClr val="336EA8"/>
                </a:solidFill>
              </a:rPr>
              <a:t> — we can apply it to 100+ locations in the future.</a:t>
            </a:r>
            <a:br>
              <a:rPr lang="en-US" sz="1400" dirty="0"/>
            </a:br>
            <a:endParaRPr sz="1400" dirty="0"/>
          </a:p>
        </p:txBody>
      </p:sp>
      <p:sp>
        <p:nvSpPr>
          <p:cNvPr id="171" name="Google Shape;17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72" name="Google Shape;172;p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73" name="Google Shape;17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2" name="Google Shape;110;p1">
            <a:extLst>
              <a:ext uri="{FF2B5EF4-FFF2-40B4-BE49-F238E27FC236}">
                <a16:creationId xmlns:a16="http://schemas.microsoft.com/office/drawing/2014/main" id="{203067B1-3EC8-45DB-2361-DD07914C4FB8}"/>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5956378" y="1474839"/>
            <a:ext cx="5479971" cy="2682501"/>
          </a:xfrm>
          <a:prstGeom prst="rect">
            <a:avLst/>
          </a:prstGeom>
          <a:noFill/>
          <a:ln>
            <a:noFill/>
          </a:ln>
        </p:spPr>
        <p:txBody>
          <a:bodyPr spcFirstLastPara="1" wrap="square" lIns="91425" tIns="45700" rIns="91425" bIns="45700" anchor="ctr" anchorCtr="0">
            <a:normAutofit/>
          </a:bodyPr>
          <a:lstStyle/>
          <a:p>
            <a:pPr>
              <a:buSzPts val="4400"/>
            </a:pPr>
            <a:r>
              <a:rPr lang="en-US" sz="1600" dirty="0">
                <a:solidFill>
                  <a:srgbClr val="D7B119"/>
                </a:solidFill>
              </a:rPr>
              <a:t>This dashboard presents an overview of renewable energy resources across 15 locations in Egypt. It analyzes average solar irradiance, wind speed, and atmospheric clearness, while also comparing regions to identify the most suitable sites for solar and wind energy projects. The results highlight that areas like Ras </a:t>
            </a:r>
            <a:r>
              <a:rPr lang="en-US" sz="1600" dirty="0" err="1">
                <a:solidFill>
                  <a:srgbClr val="D7B119"/>
                </a:solidFill>
              </a:rPr>
              <a:t>Ghareb</a:t>
            </a:r>
            <a:r>
              <a:rPr lang="en-US" sz="1600" dirty="0">
                <a:solidFill>
                  <a:srgbClr val="D7B119"/>
                </a:solidFill>
              </a:rPr>
              <a:t> and Jabal El Zeit have exceptional wind potential, while southern regions show strong solar resources, supporting strategic planning for renewable energy development.</a:t>
            </a:r>
            <a:br>
              <a:rPr lang="en-US" sz="1600" dirty="0">
                <a:solidFill>
                  <a:srgbClr val="D7B119"/>
                </a:solidFill>
              </a:rPr>
            </a:br>
            <a:endParaRPr sz="1600" b="1" dirty="0">
              <a:solidFill>
                <a:srgbClr val="D7B119"/>
              </a:solidFill>
            </a:endParaRPr>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82" name="Google Shape;182;p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85" name="Google Shape;185;p8"/>
          <p:cNvSpPr/>
          <p:nvPr/>
        </p:nvSpPr>
        <p:spPr>
          <a:xfrm rot="5400000">
            <a:off x="-965997" y="4069881"/>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 name="Google Shape;110;p1">
            <a:extLst>
              <a:ext uri="{FF2B5EF4-FFF2-40B4-BE49-F238E27FC236}">
                <a16:creationId xmlns:a16="http://schemas.microsoft.com/office/drawing/2014/main" id="{B91F1AEC-48E9-F4E8-B40E-4B2E0BCA40B2}"/>
              </a:ext>
            </a:extLst>
          </p:cNvPr>
          <p:cNvPicPr preferRelativeResize="0"/>
          <p:nvPr/>
        </p:nvPicPr>
        <p:blipFill>
          <a:blip r:embed="rId3"/>
          <a:srcRect/>
          <a:stretch/>
        </p:blipFill>
        <p:spPr>
          <a:xfrm>
            <a:off x="9010943" y="6291124"/>
            <a:ext cx="1362250" cy="365125"/>
          </a:xfrm>
          <a:prstGeom prst="rect">
            <a:avLst/>
          </a:prstGeom>
          <a:noFill/>
          <a:ln>
            <a:noFill/>
          </a:ln>
        </p:spPr>
      </p:pic>
      <p:pic>
        <p:nvPicPr>
          <p:cNvPr id="23" name="Google Shape;195;p9">
            <a:extLst>
              <a:ext uri="{FF2B5EF4-FFF2-40B4-BE49-F238E27FC236}">
                <a16:creationId xmlns:a16="http://schemas.microsoft.com/office/drawing/2014/main" id="{1393B0AF-27A2-523B-C3A7-1E7345C93C68}"/>
              </a:ext>
            </a:extLst>
          </p:cNvPr>
          <p:cNvPicPr preferRelativeResize="0"/>
          <p:nvPr/>
        </p:nvPicPr>
        <p:blipFill>
          <a:blip r:embed="rId4"/>
          <a:srcRect l="9137" r="9137"/>
          <a:stretch/>
        </p:blipFill>
        <p:spPr>
          <a:xfrm>
            <a:off x="427929" y="1738003"/>
            <a:ext cx="4218798" cy="2871465"/>
          </a:xfrm>
          <a:prstGeom prst="snip2DiagRect">
            <a:avLst>
              <a:gd name="adj1" fmla="val 0"/>
              <a:gd name="adj2" fmla="val 16667"/>
            </a:avLst>
          </a:prstGeom>
          <a:solidFill>
            <a:srgbClr val="ECECEC"/>
          </a:solidFill>
          <a:ln w="88900" cap="sq" cmpd="sng">
            <a:solidFill>
              <a:srgbClr val="336EA8"/>
            </a:solidFill>
            <a:prstDash val="solid"/>
            <a:miter lim="800000"/>
            <a:headEnd type="none" w="sm" len="sm"/>
            <a:tailEnd type="none" w="sm" len="sm"/>
          </a:ln>
          <a:effectLst>
            <a:outerShdw blurRad="88900" algn="tl" rotWithShape="0">
              <a:srgbClr val="000000">
                <a:alpha val="44705"/>
              </a:srgbClr>
            </a:outerShdw>
          </a:effectLst>
        </p:spPr>
      </p:pic>
      <p:sp>
        <p:nvSpPr>
          <p:cNvPr id="30" name="Arrow: Up 29">
            <a:extLst>
              <a:ext uri="{FF2B5EF4-FFF2-40B4-BE49-F238E27FC236}">
                <a16:creationId xmlns:a16="http://schemas.microsoft.com/office/drawing/2014/main" id="{3BD45FCF-70EB-7CAC-BA26-B35AD24CE246}"/>
              </a:ext>
            </a:extLst>
          </p:cNvPr>
          <p:cNvSpPr/>
          <p:nvPr/>
        </p:nvSpPr>
        <p:spPr>
          <a:xfrm>
            <a:off x="1902542" y="972734"/>
            <a:ext cx="265471" cy="94389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F6E68DC-1B47-ED67-AC22-D281267BEE80}"/>
              </a:ext>
            </a:extLst>
          </p:cNvPr>
          <p:cNvSpPr txBox="1"/>
          <p:nvPr/>
        </p:nvSpPr>
        <p:spPr>
          <a:xfrm>
            <a:off x="1708354" y="525691"/>
            <a:ext cx="1002891" cy="338554"/>
          </a:xfrm>
          <a:prstGeom prst="rect">
            <a:avLst/>
          </a:prstGeom>
          <a:noFill/>
        </p:spPr>
        <p:txBody>
          <a:bodyPr wrap="square" rtlCol="0">
            <a:spAutoFit/>
          </a:bodyPr>
          <a:lstStyle/>
          <a:p>
            <a:r>
              <a:rPr lang="en-US" sz="1600" b="1" dirty="0"/>
              <a:t>KPIS</a:t>
            </a:r>
          </a:p>
        </p:txBody>
      </p:sp>
      <p:sp>
        <p:nvSpPr>
          <p:cNvPr id="35" name="Arrow: Bent 34">
            <a:extLst>
              <a:ext uri="{FF2B5EF4-FFF2-40B4-BE49-F238E27FC236}">
                <a16:creationId xmlns:a16="http://schemas.microsoft.com/office/drawing/2014/main" id="{55BB0272-32A4-AF27-B835-6AD217CEEE06}"/>
              </a:ext>
            </a:extLst>
          </p:cNvPr>
          <p:cNvSpPr/>
          <p:nvPr/>
        </p:nvSpPr>
        <p:spPr>
          <a:xfrm>
            <a:off x="4011068" y="1150374"/>
            <a:ext cx="531927" cy="58762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TextBox 36">
            <a:extLst>
              <a:ext uri="{FF2B5EF4-FFF2-40B4-BE49-F238E27FC236}">
                <a16:creationId xmlns:a16="http://schemas.microsoft.com/office/drawing/2014/main" id="{47D88C55-513B-7B8C-5037-E4974ACA168B}"/>
              </a:ext>
            </a:extLst>
          </p:cNvPr>
          <p:cNvSpPr txBox="1"/>
          <p:nvPr/>
        </p:nvSpPr>
        <p:spPr>
          <a:xfrm>
            <a:off x="4621649" y="663575"/>
            <a:ext cx="1002890" cy="338554"/>
          </a:xfrm>
          <a:prstGeom prst="rect">
            <a:avLst/>
          </a:prstGeom>
          <a:noFill/>
        </p:spPr>
        <p:txBody>
          <a:bodyPr wrap="square" rtlCol="0">
            <a:spAutoFit/>
          </a:bodyPr>
          <a:lstStyle/>
          <a:p>
            <a:r>
              <a:rPr lang="en-US" sz="1600" b="1" dirty="0"/>
              <a:t>Filters</a:t>
            </a:r>
          </a:p>
        </p:txBody>
      </p:sp>
      <p:sp>
        <p:nvSpPr>
          <p:cNvPr id="38" name="Arrow: Down 37">
            <a:extLst>
              <a:ext uri="{FF2B5EF4-FFF2-40B4-BE49-F238E27FC236}">
                <a16:creationId xmlns:a16="http://schemas.microsoft.com/office/drawing/2014/main" id="{9CBA952D-86AE-33A8-4955-1BA0A70696BB}"/>
              </a:ext>
            </a:extLst>
          </p:cNvPr>
          <p:cNvSpPr/>
          <p:nvPr/>
        </p:nvSpPr>
        <p:spPr>
          <a:xfrm>
            <a:off x="1200038" y="3509962"/>
            <a:ext cx="348543" cy="1973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BB0525D-A444-FC4E-0DEB-DED3DF6F7DAD}"/>
              </a:ext>
            </a:extLst>
          </p:cNvPr>
          <p:cNvSpPr txBox="1"/>
          <p:nvPr/>
        </p:nvSpPr>
        <p:spPr>
          <a:xfrm>
            <a:off x="838200" y="5526439"/>
            <a:ext cx="1453520" cy="338554"/>
          </a:xfrm>
          <a:prstGeom prst="rect">
            <a:avLst/>
          </a:prstGeom>
          <a:noFill/>
        </p:spPr>
        <p:txBody>
          <a:bodyPr wrap="square" rtlCol="0">
            <a:spAutoFit/>
          </a:bodyPr>
          <a:lstStyle/>
          <a:p>
            <a:r>
              <a:rPr lang="en-US" sz="1600" b="1" dirty="0"/>
              <a:t>Area Chart</a:t>
            </a:r>
          </a:p>
        </p:txBody>
      </p:sp>
      <p:sp>
        <p:nvSpPr>
          <p:cNvPr id="41" name="Arrow: Curved Up 40">
            <a:extLst>
              <a:ext uri="{FF2B5EF4-FFF2-40B4-BE49-F238E27FC236}">
                <a16:creationId xmlns:a16="http://schemas.microsoft.com/office/drawing/2014/main" id="{4384E5C4-60C6-F32E-F016-B5027231269D}"/>
              </a:ext>
            </a:extLst>
          </p:cNvPr>
          <p:cNvSpPr/>
          <p:nvPr/>
        </p:nvSpPr>
        <p:spPr>
          <a:xfrm>
            <a:off x="4561430" y="3429000"/>
            <a:ext cx="574202" cy="338554"/>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TextBox 42">
            <a:extLst>
              <a:ext uri="{FF2B5EF4-FFF2-40B4-BE49-F238E27FC236}">
                <a16:creationId xmlns:a16="http://schemas.microsoft.com/office/drawing/2014/main" id="{6F16550D-2CD9-BB60-BC61-4D3609CDEA6B}"/>
              </a:ext>
            </a:extLst>
          </p:cNvPr>
          <p:cNvSpPr txBox="1"/>
          <p:nvPr/>
        </p:nvSpPr>
        <p:spPr>
          <a:xfrm>
            <a:off x="4805553" y="3059692"/>
            <a:ext cx="1211316" cy="338554"/>
          </a:xfrm>
          <a:prstGeom prst="rect">
            <a:avLst/>
          </a:prstGeom>
          <a:noFill/>
        </p:spPr>
        <p:txBody>
          <a:bodyPr wrap="square" rtlCol="0">
            <a:spAutoFit/>
          </a:bodyPr>
          <a:lstStyle/>
          <a:p>
            <a:r>
              <a:rPr lang="en-US" sz="1600" b="1" dirty="0"/>
              <a:t>Bar Chart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300908" y="1186103"/>
            <a:ext cx="11052892" cy="5105021"/>
          </a:xfrm>
          <a:prstGeom prst="rect">
            <a:avLst/>
          </a:prstGeom>
          <a:noFill/>
          <a:ln>
            <a:noFill/>
          </a:ln>
        </p:spPr>
        <p:txBody>
          <a:bodyPr spcFirstLastPara="1" wrap="square" lIns="91425" tIns="45700" rIns="91425" bIns="45700" anchor="ctr" anchorCtr="0">
            <a:noAutofit/>
          </a:bodyPr>
          <a:lstStyle/>
          <a:p>
            <a:r>
              <a:rPr lang="en-US" sz="1600" b="1" dirty="0">
                <a:solidFill>
                  <a:srgbClr val="336EA8"/>
                </a:solidFill>
              </a:rPr>
              <a:t>End Users</a:t>
            </a:r>
            <a:br>
              <a:rPr lang="en-US" sz="1600" b="1" dirty="0"/>
            </a:br>
            <a:r>
              <a:rPr lang="en-US" sz="1600" dirty="0">
                <a:solidFill>
                  <a:srgbClr val="0FAB7D"/>
                </a:solidFill>
              </a:rPr>
              <a:t>Government Energy Planners</a:t>
            </a:r>
            <a:br>
              <a:rPr lang="en-US" sz="1600" dirty="0">
                <a:solidFill>
                  <a:srgbClr val="0FAB7D"/>
                </a:solidFill>
              </a:rPr>
            </a:br>
            <a:r>
              <a:rPr lang="en-US" sz="1600" dirty="0">
                <a:solidFill>
                  <a:srgbClr val="0FAB7D"/>
                </a:solidFill>
              </a:rPr>
              <a:t>Renewable Energy Developers</a:t>
            </a:r>
            <a:br>
              <a:rPr lang="en-US" sz="1600" dirty="0">
                <a:solidFill>
                  <a:srgbClr val="0FAB7D"/>
                </a:solidFill>
              </a:rPr>
            </a:br>
            <a:r>
              <a:rPr lang="en-US" sz="1600" dirty="0">
                <a:solidFill>
                  <a:srgbClr val="0FAB7D"/>
                </a:solidFill>
              </a:rPr>
              <a:t>Investors</a:t>
            </a:r>
            <a:br>
              <a:rPr lang="en-US" sz="1600" dirty="0">
                <a:solidFill>
                  <a:srgbClr val="0FAB7D"/>
                </a:solidFill>
              </a:rPr>
            </a:br>
            <a:r>
              <a:rPr lang="en-US" sz="1600" dirty="0">
                <a:solidFill>
                  <a:srgbClr val="0FAB7D"/>
                </a:solidFill>
              </a:rPr>
              <a:t>Researchers &amp; Data Analysts</a:t>
            </a:r>
            <a:br>
              <a:rPr lang="en-US" sz="1600" dirty="0"/>
            </a:br>
            <a:br>
              <a:rPr lang="en-US" sz="1600" dirty="0"/>
            </a:br>
            <a:r>
              <a:rPr lang="en-US" sz="1600" b="1" dirty="0">
                <a:solidFill>
                  <a:srgbClr val="336EA8"/>
                </a:solidFill>
              </a:rPr>
              <a:t>Key Features</a:t>
            </a:r>
            <a:br>
              <a:rPr lang="en-US" sz="1600" b="1" dirty="0"/>
            </a:br>
            <a:r>
              <a:rPr lang="en-US" sz="1600" dirty="0">
                <a:solidFill>
                  <a:srgbClr val="0FAB7D"/>
                </a:solidFill>
              </a:rPr>
              <a:t>Interactive dashboards</a:t>
            </a:r>
            <a:br>
              <a:rPr lang="en-US" sz="1600" dirty="0">
                <a:solidFill>
                  <a:srgbClr val="0FAB7D"/>
                </a:solidFill>
              </a:rPr>
            </a:br>
            <a:r>
              <a:rPr lang="en-US" sz="1600" dirty="0">
                <a:solidFill>
                  <a:srgbClr val="0FAB7D"/>
                </a:solidFill>
              </a:rPr>
              <a:t>Regional solar &amp; wind comparison</a:t>
            </a:r>
            <a:br>
              <a:rPr lang="en-US" sz="1600" dirty="0">
                <a:solidFill>
                  <a:srgbClr val="0FAB7D"/>
                </a:solidFill>
              </a:rPr>
            </a:br>
            <a:r>
              <a:rPr lang="en-US" sz="1600" dirty="0">
                <a:solidFill>
                  <a:srgbClr val="0FAB7D"/>
                </a:solidFill>
              </a:rPr>
              <a:t>Time-series analysis</a:t>
            </a:r>
            <a:br>
              <a:rPr lang="en-US" sz="1600" dirty="0">
                <a:solidFill>
                  <a:srgbClr val="0FAB7D"/>
                </a:solidFill>
              </a:rPr>
            </a:br>
            <a:r>
              <a:rPr lang="en-US" sz="1600" dirty="0">
                <a:solidFill>
                  <a:srgbClr val="0FAB7D"/>
                </a:solidFill>
              </a:rPr>
              <a:t>KPI summary indicators (DNI, WS50M, KT)</a:t>
            </a:r>
            <a:br>
              <a:rPr lang="en-US" sz="1600" dirty="0">
                <a:solidFill>
                  <a:srgbClr val="0FAB7D"/>
                </a:solidFill>
              </a:rPr>
            </a:br>
            <a:r>
              <a:rPr lang="en-US" sz="1600" dirty="0">
                <a:solidFill>
                  <a:srgbClr val="0FAB7D"/>
                </a:solidFill>
              </a:rPr>
              <a:t>Filtering &amp; customization tools</a:t>
            </a:r>
            <a:br>
              <a:rPr lang="en-US" sz="1600" dirty="0">
                <a:solidFill>
                  <a:srgbClr val="0FAB7D"/>
                </a:solidFill>
              </a:rPr>
            </a:br>
            <a:r>
              <a:rPr lang="en-US" sz="1600" dirty="0">
                <a:solidFill>
                  <a:srgbClr val="0FAB7D"/>
                </a:solidFill>
              </a:rPr>
              <a:t>Visual gauges for quick insights</a:t>
            </a:r>
            <a:br>
              <a:rPr lang="en-US" sz="1600" dirty="0"/>
            </a:br>
            <a:br>
              <a:rPr lang="en-US" sz="1600" dirty="0"/>
            </a:br>
            <a:r>
              <a:rPr lang="en-US" sz="1600" b="1" dirty="0">
                <a:solidFill>
                  <a:srgbClr val="336EA8"/>
                </a:solidFill>
              </a:rPr>
              <a:t>How Features Address User Needs</a:t>
            </a:r>
            <a:br>
              <a:rPr lang="en-US" sz="1600" b="1" dirty="0"/>
            </a:br>
            <a:r>
              <a:rPr lang="en-US" sz="1600" b="1" dirty="0">
                <a:solidFill>
                  <a:srgbClr val="047954"/>
                </a:solidFill>
              </a:rPr>
              <a:t>Government Planners:</a:t>
            </a:r>
            <a:br>
              <a:rPr lang="en-US" sz="1600" dirty="0"/>
            </a:br>
            <a:r>
              <a:rPr lang="en-US" sz="1600" dirty="0">
                <a:solidFill>
                  <a:srgbClr val="0FAB7D"/>
                </a:solidFill>
              </a:rPr>
              <a:t>Regional comparison charts help identify the most suitable locations for renewable energy projects.</a:t>
            </a:r>
            <a:br>
              <a:rPr lang="en-US" sz="1600" dirty="0"/>
            </a:br>
            <a:r>
              <a:rPr lang="en-US" sz="1600" b="1" dirty="0">
                <a:solidFill>
                  <a:srgbClr val="047954"/>
                </a:solidFill>
              </a:rPr>
              <a:t>Energy Developers:</a:t>
            </a:r>
            <a:br>
              <a:rPr lang="en-US" sz="1600" dirty="0"/>
            </a:br>
            <a:r>
              <a:rPr lang="en-US" sz="1600" dirty="0">
                <a:solidFill>
                  <a:srgbClr val="0FAB7D"/>
                </a:solidFill>
              </a:rPr>
              <a:t>Time-series trends support forecasting, planning, and evaluating resource stability over the years.</a:t>
            </a:r>
            <a:br>
              <a:rPr lang="en-US" sz="1600" dirty="0"/>
            </a:br>
            <a:r>
              <a:rPr lang="en-US" sz="1600" b="1" dirty="0">
                <a:solidFill>
                  <a:srgbClr val="047954"/>
                </a:solidFill>
              </a:rPr>
              <a:t>Investors:</a:t>
            </a:r>
            <a:br>
              <a:rPr lang="en-US" sz="1600" dirty="0"/>
            </a:br>
            <a:r>
              <a:rPr lang="en-US" sz="1600" dirty="0">
                <a:solidFill>
                  <a:srgbClr val="0FAB7D"/>
                </a:solidFill>
              </a:rPr>
              <a:t>KPI summary cards and gauges provide clear, fast insights needed for investment decisions</a:t>
            </a:r>
            <a:r>
              <a:rPr lang="en-US" sz="1600" dirty="0"/>
              <a:t>.</a:t>
            </a:r>
            <a:br>
              <a:rPr lang="en-US" sz="1600" dirty="0"/>
            </a:br>
            <a:r>
              <a:rPr lang="en-US" sz="1600" b="1" dirty="0">
                <a:solidFill>
                  <a:srgbClr val="047954"/>
                </a:solidFill>
              </a:rPr>
              <a:t>Researchers &amp; Analysts:</a:t>
            </a:r>
            <a:br>
              <a:rPr lang="en-US" sz="1600" dirty="0"/>
            </a:br>
            <a:r>
              <a:rPr lang="en-US" sz="1600" dirty="0">
                <a:solidFill>
                  <a:srgbClr val="0FAB7D"/>
                </a:solidFill>
              </a:rPr>
              <a:t>Interactive filters and detailed visualizations enable in-depth exploration of solar and wind resource data.</a:t>
            </a:r>
            <a:br>
              <a:rPr lang="en-US" sz="1600" dirty="0"/>
            </a:br>
            <a:endParaRPr sz="1600" dirty="0"/>
          </a:p>
        </p:txBody>
      </p:sp>
      <p:sp>
        <p:nvSpPr>
          <p:cNvPr id="192" name="Google Shape;19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93" name="Google Shape;193;p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94" name="Google Shape;19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2" name="Google Shape;110;p1">
            <a:extLst>
              <a:ext uri="{FF2B5EF4-FFF2-40B4-BE49-F238E27FC236}">
                <a16:creationId xmlns:a16="http://schemas.microsoft.com/office/drawing/2014/main" id="{C325A2E1-EEF7-90FC-497A-243250923499}"/>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BB454B6D-C217-4637-09C1-A84BFE91C0F4}"/>
            </a:ext>
          </a:extLst>
        </p:cNvPr>
        <p:cNvGrpSpPr/>
        <p:nvPr/>
      </p:nvGrpSpPr>
      <p:grpSpPr>
        <a:xfrm>
          <a:off x="0" y="0"/>
          <a:ext cx="0" cy="0"/>
          <a:chOff x="0" y="0"/>
          <a:chExt cx="0" cy="0"/>
        </a:xfrm>
      </p:grpSpPr>
      <p:sp>
        <p:nvSpPr>
          <p:cNvPr id="191" name="Google Shape;191;p9">
            <a:extLst>
              <a:ext uri="{FF2B5EF4-FFF2-40B4-BE49-F238E27FC236}">
                <a16:creationId xmlns:a16="http://schemas.microsoft.com/office/drawing/2014/main" id="{D58AC51E-61C9-3ED0-4DDC-10FD0D673941}"/>
              </a:ext>
            </a:extLst>
          </p:cNvPr>
          <p:cNvSpPr txBox="1">
            <a:spLocks noGrp="1"/>
          </p:cNvSpPr>
          <p:nvPr>
            <p:ph type="title"/>
          </p:nvPr>
        </p:nvSpPr>
        <p:spPr>
          <a:xfrm>
            <a:off x="280220" y="1385309"/>
            <a:ext cx="7551174" cy="4764768"/>
          </a:xfrm>
          <a:prstGeom prst="rect">
            <a:avLst/>
          </a:prstGeom>
          <a:noFill/>
          <a:ln>
            <a:noFill/>
          </a:ln>
        </p:spPr>
        <p:txBody>
          <a:bodyPr spcFirstLastPara="1" wrap="square" lIns="91425" tIns="45700" rIns="91425" bIns="45700" anchor="ctr" anchorCtr="0">
            <a:noAutofit/>
          </a:bodyPr>
          <a:lstStyle/>
          <a:p>
            <a:r>
              <a:rPr lang="en-US" sz="1600" b="1" dirty="0">
                <a:solidFill>
                  <a:srgbClr val="336EA8"/>
                </a:solidFill>
              </a:rPr>
              <a:t>Database Architecture:</a:t>
            </a:r>
            <a:br>
              <a:rPr lang="en-US" sz="1600" dirty="0"/>
            </a:br>
            <a:r>
              <a:rPr lang="en-US" sz="1600" dirty="0">
                <a:solidFill>
                  <a:srgbClr val="047954"/>
                </a:solidFill>
              </a:rPr>
              <a:t>Relational Database: Data is organized in tables linked by </a:t>
            </a:r>
            <a:r>
              <a:rPr lang="en-US" sz="1600" b="1" dirty="0">
                <a:solidFill>
                  <a:srgbClr val="047954"/>
                </a:solidFill>
              </a:rPr>
              <a:t>Location</a:t>
            </a:r>
            <a:r>
              <a:rPr lang="en-US" sz="1600" dirty="0">
                <a:solidFill>
                  <a:srgbClr val="047954"/>
                </a:solidFill>
              </a:rPr>
              <a:t>.</a:t>
            </a:r>
            <a:br>
              <a:rPr lang="en-US" sz="1600" dirty="0"/>
            </a:br>
            <a:br>
              <a:rPr lang="en-US" sz="1600" dirty="0"/>
            </a:br>
            <a:r>
              <a:rPr lang="en-US" sz="1600" b="1" dirty="0">
                <a:solidFill>
                  <a:srgbClr val="336EA8"/>
                </a:solidFill>
              </a:rPr>
              <a:t>Key Tables (Entities):</a:t>
            </a:r>
            <a:br>
              <a:rPr lang="en-US" sz="1600" dirty="0"/>
            </a:br>
            <a:r>
              <a:rPr lang="en-US" sz="1600" b="1" dirty="0">
                <a:solidFill>
                  <a:srgbClr val="047954"/>
                </a:solidFill>
              </a:rPr>
              <a:t>Location:</a:t>
            </a:r>
            <a:r>
              <a:rPr lang="en-US" sz="1600" dirty="0">
                <a:solidFill>
                  <a:srgbClr val="047954"/>
                </a:solidFill>
              </a:rPr>
              <a:t> </a:t>
            </a:r>
            <a:r>
              <a:rPr lang="en-US" sz="1600" dirty="0">
                <a:solidFill>
                  <a:srgbClr val="0FAB7D"/>
                </a:solidFill>
              </a:rPr>
              <a:t>Information about each of the 15 regions.</a:t>
            </a:r>
            <a:br>
              <a:rPr lang="en-US" sz="1600" dirty="0">
                <a:solidFill>
                  <a:srgbClr val="0FAB7D"/>
                </a:solidFill>
              </a:rPr>
            </a:br>
            <a:r>
              <a:rPr lang="en-US" sz="1600" b="1" dirty="0">
                <a:solidFill>
                  <a:srgbClr val="047954"/>
                </a:solidFill>
              </a:rPr>
              <a:t>Parameters</a:t>
            </a:r>
            <a:r>
              <a:rPr lang="en-US" sz="1600" b="1" dirty="0">
                <a:solidFill>
                  <a:srgbClr val="0FAB7D"/>
                </a:solidFill>
              </a:rPr>
              <a:t>:</a:t>
            </a:r>
            <a:r>
              <a:rPr lang="en-US" sz="1600" dirty="0">
                <a:solidFill>
                  <a:srgbClr val="0FAB7D"/>
                </a:solidFill>
              </a:rPr>
              <a:t> Types of measured data (e.g., solar, wind, clearness index).</a:t>
            </a:r>
            <a:br>
              <a:rPr lang="en-US" sz="1600" dirty="0">
                <a:solidFill>
                  <a:srgbClr val="0FAB7D"/>
                </a:solidFill>
              </a:rPr>
            </a:br>
            <a:r>
              <a:rPr lang="en-US" sz="1600" b="1" dirty="0">
                <a:solidFill>
                  <a:srgbClr val="047954"/>
                </a:solidFill>
              </a:rPr>
              <a:t>ALL_DATA</a:t>
            </a:r>
            <a:r>
              <a:rPr lang="en-US" sz="1600" b="1" dirty="0">
                <a:solidFill>
                  <a:srgbClr val="0FAB7D"/>
                </a:solidFill>
              </a:rPr>
              <a:t>:</a:t>
            </a:r>
            <a:r>
              <a:rPr lang="en-US" sz="1600" dirty="0">
                <a:solidFill>
                  <a:srgbClr val="0FAB7D"/>
                </a:solidFill>
              </a:rPr>
              <a:t> Annual values for each Parameter for each Location.</a:t>
            </a:r>
            <a:br>
              <a:rPr lang="en-US" sz="1600" dirty="0">
                <a:solidFill>
                  <a:srgbClr val="0FAB7D"/>
                </a:solidFill>
              </a:rPr>
            </a:br>
            <a:br>
              <a:rPr lang="en-US" sz="1600" dirty="0"/>
            </a:br>
            <a:r>
              <a:rPr lang="en-US" sz="1600" b="1" dirty="0">
                <a:solidFill>
                  <a:srgbClr val="336EA8"/>
                </a:solidFill>
              </a:rPr>
              <a:t>Relationships:</a:t>
            </a:r>
            <a:br>
              <a:rPr lang="en-US" sz="1600" dirty="0"/>
            </a:br>
            <a:r>
              <a:rPr lang="en-US" sz="1600" b="1" dirty="0">
                <a:solidFill>
                  <a:srgbClr val="047954"/>
                </a:solidFill>
              </a:rPr>
              <a:t>One-to-Many:</a:t>
            </a:r>
            <a:r>
              <a:rPr lang="en-US" sz="1600" dirty="0">
                <a:solidFill>
                  <a:srgbClr val="047954"/>
                </a:solidFill>
              </a:rPr>
              <a:t> </a:t>
            </a:r>
            <a:r>
              <a:rPr lang="en-US" sz="1600" dirty="0">
                <a:solidFill>
                  <a:srgbClr val="0FAB7D"/>
                </a:solidFill>
              </a:rPr>
              <a:t>Each Location in the Location table is linked to multiple records in ALL_DATA.</a:t>
            </a:r>
            <a:br>
              <a:rPr lang="en-US" sz="1600" dirty="0">
                <a:solidFill>
                  <a:srgbClr val="0FAB7D"/>
                </a:solidFill>
              </a:rPr>
            </a:br>
            <a:r>
              <a:rPr lang="en-US" sz="1600" dirty="0">
                <a:solidFill>
                  <a:srgbClr val="0FAB7D"/>
                </a:solidFill>
              </a:rPr>
              <a:t>All tables are connected through </a:t>
            </a:r>
            <a:r>
              <a:rPr lang="en-US" sz="1600" b="1" dirty="0">
                <a:solidFill>
                  <a:srgbClr val="0FAB7D"/>
                </a:solidFill>
              </a:rPr>
              <a:t>Location</a:t>
            </a:r>
            <a:r>
              <a:rPr lang="en-US" sz="1600" dirty="0">
                <a:solidFill>
                  <a:srgbClr val="0FAB7D"/>
                </a:solidFill>
              </a:rPr>
              <a:t> to ensure consistency and facilitate analysis</a:t>
            </a:r>
            <a:r>
              <a:rPr lang="en-US" sz="1600" dirty="0"/>
              <a:t>.</a:t>
            </a:r>
            <a:br>
              <a:rPr lang="en-US" sz="1600" dirty="0"/>
            </a:br>
            <a:br>
              <a:rPr lang="en-US" sz="1600" dirty="0"/>
            </a:br>
            <a:endParaRPr sz="1600" dirty="0"/>
          </a:p>
        </p:txBody>
      </p:sp>
      <p:sp>
        <p:nvSpPr>
          <p:cNvPr id="192" name="Google Shape;192;p9">
            <a:extLst>
              <a:ext uri="{FF2B5EF4-FFF2-40B4-BE49-F238E27FC236}">
                <a16:creationId xmlns:a16="http://schemas.microsoft.com/office/drawing/2014/main" id="{15351361-C4F5-A52B-27F4-B57ADF7F8A0D}"/>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93" name="Google Shape;193;p9">
            <a:extLst>
              <a:ext uri="{FF2B5EF4-FFF2-40B4-BE49-F238E27FC236}">
                <a16:creationId xmlns:a16="http://schemas.microsoft.com/office/drawing/2014/main" id="{6DFA4896-023D-A7F2-9D64-9E2BFCF57B24}"/>
              </a:ext>
            </a:extLst>
          </p:cNvPr>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94" name="Google Shape;194;p9">
            <a:extLst>
              <a:ext uri="{FF2B5EF4-FFF2-40B4-BE49-F238E27FC236}">
                <a16:creationId xmlns:a16="http://schemas.microsoft.com/office/drawing/2014/main" id="{FC402ED5-79EA-430E-E78A-9D432D4991C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2" name="Google Shape;110;p1">
            <a:extLst>
              <a:ext uri="{FF2B5EF4-FFF2-40B4-BE49-F238E27FC236}">
                <a16:creationId xmlns:a16="http://schemas.microsoft.com/office/drawing/2014/main" id="{8FAF5DA5-50DD-AC6B-D559-B2B3ED6E8454}"/>
              </a:ext>
            </a:extLst>
          </p:cNvPr>
          <p:cNvPicPr preferRelativeResize="0"/>
          <p:nvPr/>
        </p:nvPicPr>
        <p:blipFill>
          <a:blip r:embed="rId3"/>
          <a:srcRect/>
          <a:stretch/>
        </p:blipFill>
        <p:spPr>
          <a:xfrm>
            <a:off x="9010943" y="6291124"/>
            <a:ext cx="1362250" cy="365125"/>
          </a:xfrm>
          <a:prstGeom prst="rect">
            <a:avLst/>
          </a:prstGeom>
          <a:noFill/>
          <a:ln>
            <a:noFill/>
          </a:ln>
        </p:spPr>
      </p:pic>
    </p:spTree>
    <p:extLst>
      <p:ext uri="{BB962C8B-B14F-4D97-AF65-F5344CB8AC3E}">
        <p14:creationId xmlns:p14="http://schemas.microsoft.com/office/powerpoint/2010/main" val="2824373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6B01BB4A-B162-D2BE-3539-8B2EB87D65CD}"/>
            </a:ext>
          </a:extLst>
        </p:cNvPr>
        <p:cNvGrpSpPr/>
        <p:nvPr/>
      </p:nvGrpSpPr>
      <p:grpSpPr>
        <a:xfrm>
          <a:off x="0" y="0"/>
          <a:ext cx="0" cy="0"/>
          <a:chOff x="0" y="0"/>
          <a:chExt cx="0" cy="0"/>
        </a:xfrm>
      </p:grpSpPr>
      <p:sp>
        <p:nvSpPr>
          <p:cNvPr id="191" name="Google Shape;191;p9">
            <a:extLst>
              <a:ext uri="{FF2B5EF4-FFF2-40B4-BE49-F238E27FC236}">
                <a16:creationId xmlns:a16="http://schemas.microsoft.com/office/drawing/2014/main" id="{CAE9AECB-A038-E239-41E4-F2CF96BF76D6}"/>
              </a:ext>
            </a:extLst>
          </p:cNvPr>
          <p:cNvSpPr txBox="1">
            <a:spLocks noGrp="1"/>
          </p:cNvSpPr>
          <p:nvPr>
            <p:ph type="title"/>
          </p:nvPr>
        </p:nvSpPr>
        <p:spPr>
          <a:xfrm>
            <a:off x="457200" y="1283110"/>
            <a:ext cx="7551174" cy="4498258"/>
          </a:xfrm>
          <a:prstGeom prst="rect">
            <a:avLst/>
          </a:prstGeom>
          <a:noFill/>
          <a:ln>
            <a:noFill/>
          </a:ln>
        </p:spPr>
        <p:txBody>
          <a:bodyPr spcFirstLastPara="1" wrap="square" lIns="91425" tIns="45700" rIns="91425" bIns="45700" anchor="ctr" anchorCtr="0">
            <a:noAutofit/>
          </a:bodyPr>
          <a:lstStyle/>
          <a:p>
            <a:r>
              <a:rPr lang="en-US" sz="2800" b="1" dirty="0">
                <a:solidFill>
                  <a:srgbClr val="336EA8"/>
                </a:solidFill>
              </a:rPr>
              <a:t>Main Tools:</a:t>
            </a:r>
            <a:br>
              <a:rPr lang="en-US" sz="2800" dirty="0"/>
            </a:br>
            <a:r>
              <a:rPr lang="en-US" sz="2800" b="1" dirty="0">
                <a:solidFill>
                  <a:srgbClr val="047954"/>
                </a:solidFill>
              </a:rPr>
              <a:t>Excel:</a:t>
            </a:r>
            <a:r>
              <a:rPr lang="en-US" sz="2800" dirty="0">
                <a:solidFill>
                  <a:srgbClr val="047954"/>
                </a:solidFill>
              </a:rPr>
              <a:t> </a:t>
            </a:r>
            <a:r>
              <a:rPr lang="en-US" sz="2800" dirty="0">
                <a:solidFill>
                  <a:srgbClr val="0FAB7D"/>
                </a:solidFill>
              </a:rPr>
              <a:t>Data storage, processing, and basic analysis.</a:t>
            </a:r>
            <a:br>
              <a:rPr lang="en-US" sz="2800" dirty="0">
                <a:solidFill>
                  <a:srgbClr val="0FAB7D"/>
                </a:solidFill>
              </a:rPr>
            </a:br>
            <a:r>
              <a:rPr lang="en-US" sz="2800" b="1" dirty="0">
                <a:solidFill>
                  <a:srgbClr val="047954"/>
                </a:solidFill>
              </a:rPr>
              <a:t>Power BI:</a:t>
            </a:r>
            <a:r>
              <a:rPr lang="en-US" sz="2800" dirty="0">
                <a:solidFill>
                  <a:srgbClr val="047954"/>
                </a:solidFill>
              </a:rPr>
              <a:t> </a:t>
            </a:r>
            <a:r>
              <a:rPr lang="en-US" sz="2800" dirty="0">
                <a:solidFill>
                  <a:srgbClr val="0FAB7D"/>
                </a:solidFill>
              </a:rPr>
              <a:t>Data visualization and dashboard creation.</a:t>
            </a:r>
            <a:br>
              <a:rPr lang="en-US" sz="2800" dirty="0">
                <a:solidFill>
                  <a:srgbClr val="0FAB7D"/>
                </a:solidFill>
              </a:rPr>
            </a:br>
            <a:r>
              <a:rPr lang="en-US" sz="2800" b="1" dirty="0">
                <a:solidFill>
                  <a:srgbClr val="047954"/>
                </a:solidFill>
              </a:rPr>
              <a:t>Supporting Technologies:</a:t>
            </a:r>
            <a:br>
              <a:rPr lang="en-US" sz="2800" dirty="0"/>
            </a:br>
            <a:r>
              <a:rPr lang="en-US" sz="2800" dirty="0">
                <a:solidFill>
                  <a:srgbClr val="0FAB7D"/>
                </a:solidFill>
              </a:rPr>
              <a:t>No additional programming languages or frameworks used.</a:t>
            </a:r>
          </a:p>
        </p:txBody>
      </p:sp>
      <p:sp>
        <p:nvSpPr>
          <p:cNvPr id="192" name="Google Shape;192;p9">
            <a:extLst>
              <a:ext uri="{FF2B5EF4-FFF2-40B4-BE49-F238E27FC236}">
                <a16:creationId xmlns:a16="http://schemas.microsoft.com/office/drawing/2014/main" id="{9537F2F3-E257-0691-E62F-646793A7C479}"/>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93" name="Google Shape;193;p9">
            <a:extLst>
              <a:ext uri="{FF2B5EF4-FFF2-40B4-BE49-F238E27FC236}">
                <a16:creationId xmlns:a16="http://schemas.microsoft.com/office/drawing/2014/main" id="{EFB7FC89-4345-37A8-1FE8-5897E76AB0CE}"/>
              </a:ext>
            </a:extLst>
          </p:cNvPr>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94" name="Google Shape;194;p9">
            <a:extLst>
              <a:ext uri="{FF2B5EF4-FFF2-40B4-BE49-F238E27FC236}">
                <a16:creationId xmlns:a16="http://schemas.microsoft.com/office/drawing/2014/main" id="{05BDB8D2-7AF4-E1EC-7714-79721660EFB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2" name="Google Shape;110;p1">
            <a:extLst>
              <a:ext uri="{FF2B5EF4-FFF2-40B4-BE49-F238E27FC236}">
                <a16:creationId xmlns:a16="http://schemas.microsoft.com/office/drawing/2014/main" id="{C5350350-D221-82E8-9230-F0F046257663}"/>
              </a:ext>
            </a:extLst>
          </p:cNvPr>
          <p:cNvPicPr preferRelativeResize="0"/>
          <p:nvPr/>
        </p:nvPicPr>
        <p:blipFill>
          <a:blip r:embed="rId3"/>
          <a:srcRect/>
          <a:stretch/>
        </p:blipFill>
        <p:spPr>
          <a:xfrm>
            <a:off x="9010943" y="6291124"/>
            <a:ext cx="1362250" cy="365125"/>
          </a:xfrm>
          <a:prstGeom prst="rect">
            <a:avLst/>
          </a:prstGeom>
          <a:noFill/>
          <a:ln>
            <a:noFill/>
          </a:ln>
        </p:spPr>
      </p:pic>
    </p:spTree>
    <p:extLst>
      <p:ext uri="{BB962C8B-B14F-4D97-AF65-F5344CB8AC3E}">
        <p14:creationId xmlns:p14="http://schemas.microsoft.com/office/powerpoint/2010/main" val="1616712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spcBef>
                <a:spcPts val="0"/>
              </a:spcBef>
              <a:buSzPts val="2800"/>
              <a:buNone/>
            </a:pPr>
            <a:r>
              <a:rPr lang="en-US" b="1" dirty="0">
                <a:solidFill>
                  <a:srgbClr val="336EA8"/>
                </a:solidFill>
                <a:latin typeface="Arial"/>
                <a:ea typeface="Arial"/>
                <a:cs typeface="Arial"/>
                <a:sym typeface="Arial"/>
              </a:rPr>
              <a:t>Live Application</a:t>
            </a:r>
            <a:r>
              <a:rPr lang="ar-EG" b="1" dirty="0">
                <a:solidFill>
                  <a:srgbClr val="336EA8"/>
                </a:solidFill>
                <a:latin typeface="Arial"/>
                <a:ea typeface="Arial"/>
                <a:cs typeface="Arial"/>
                <a:sym typeface="Arial"/>
              </a:rPr>
              <a:t>:</a:t>
            </a:r>
          </a:p>
          <a:p>
            <a:pPr marL="228600" lvl="0" indent="-50800">
              <a:spcBef>
                <a:spcPts val="0"/>
              </a:spcBef>
              <a:buSzPts val="2800"/>
              <a:buNone/>
            </a:pPr>
            <a:endParaRPr b="1" dirty="0"/>
          </a:p>
        </p:txBody>
      </p:sp>
      <p:sp>
        <p:nvSpPr>
          <p:cNvPr id="215" name="Google Shape;21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216" name="Google Shape;216;p1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217" name="Google Shape;21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2" name="Google Shape;110;p1">
            <a:extLst>
              <a:ext uri="{FF2B5EF4-FFF2-40B4-BE49-F238E27FC236}">
                <a16:creationId xmlns:a16="http://schemas.microsoft.com/office/drawing/2014/main" id="{2E0295A1-3AEC-1EA2-58F1-FD4A8C06D639}"/>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224" name="Google Shape;224;p1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225" name="Google Shape;22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2" name="Google Shape;110;p1">
            <a:extLst>
              <a:ext uri="{FF2B5EF4-FFF2-40B4-BE49-F238E27FC236}">
                <a16:creationId xmlns:a16="http://schemas.microsoft.com/office/drawing/2014/main" id="{58C33320-60ED-A251-AB49-C1349DCD930A}"/>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4" name="TextBox 3">
            <a:extLst>
              <a:ext uri="{FF2B5EF4-FFF2-40B4-BE49-F238E27FC236}">
                <a16:creationId xmlns:a16="http://schemas.microsoft.com/office/drawing/2014/main" id="{A49AA52F-E85B-D516-7937-1097E2F892F1}"/>
              </a:ext>
            </a:extLst>
          </p:cNvPr>
          <p:cNvSpPr txBox="1"/>
          <p:nvPr/>
        </p:nvSpPr>
        <p:spPr>
          <a:xfrm>
            <a:off x="648929" y="2197894"/>
            <a:ext cx="8498758" cy="2800767"/>
          </a:xfrm>
          <a:prstGeom prst="rect">
            <a:avLst/>
          </a:prstGeom>
          <a:noFill/>
        </p:spPr>
        <p:txBody>
          <a:bodyPr wrap="square">
            <a:spAutoFit/>
          </a:bodyPr>
          <a:lstStyle/>
          <a:p>
            <a:r>
              <a:rPr lang="en-US" sz="1600" b="1" dirty="0">
                <a:solidFill>
                  <a:srgbClr val="336EA8"/>
                </a:solidFill>
              </a:rPr>
              <a:t>Reports and Documentation:</a:t>
            </a:r>
            <a:endParaRPr lang="en-US" sz="1600" dirty="0">
              <a:solidFill>
                <a:srgbClr val="336EA8"/>
              </a:solidFill>
            </a:endParaRPr>
          </a:p>
          <a:p>
            <a:r>
              <a:rPr lang="en-US" sz="1600" dirty="0">
                <a:solidFill>
                  <a:srgbClr val="047954"/>
                </a:solidFill>
              </a:rPr>
              <a:t>Project Data Report (all tables and analysis results).</a:t>
            </a:r>
          </a:p>
          <a:p>
            <a:r>
              <a:rPr lang="en-US" sz="1600" dirty="0">
                <a:solidFill>
                  <a:srgbClr val="047954"/>
                </a:solidFill>
              </a:rPr>
              <a:t>Power BI Dashboard documentation.</a:t>
            </a:r>
          </a:p>
          <a:p>
            <a:r>
              <a:rPr lang="en-US" sz="1600" dirty="0">
                <a:solidFill>
                  <a:srgbClr val="047954"/>
                </a:solidFill>
              </a:rPr>
              <a:t>User guide for navigating and interpreting the dashboard</a:t>
            </a:r>
            <a:r>
              <a:rPr lang="en-US" sz="1600" dirty="0"/>
              <a:t>.</a:t>
            </a:r>
          </a:p>
          <a:p>
            <a:r>
              <a:rPr lang="en-US" sz="1600" b="1" dirty="0">
                <a:solidFill>
                  <a:srgbClr val="336EA8"/>
                </a:solidFill>
              </a:rPr>
              <a:t>Timeline for Deliverables:</a:t>
            </a:r>
            <a:endParaRPr lang="en-US" sz="1600" dirty="0">
              <a:solidFill>
                <a:srgbClr val="336EA8"/>
              </a:solidFill>
            </a:endParaRPr>
          </a:p>
          <a:p>
            <a:r>
              <a:rPr lang="en-US" sz="1600" dirty="0">
                <a:solidFill>
                  <a:srgbClr val="047954"/>
                </a:solidFill>
              </a:rPr>
              <a:t>Data preparation and cleaning – [</a:t>
            </a:r>
            <a:r>
              <a:rPr lang="ar-EG" sz="1600" dirty="0">
                <a:solidFill>
                  <a:srgbClr val="047954"/>
                </a:solidFill>
              </a:rPr>
              <a:t>25/9/2025</a:t>
            </a:r>
            <a:r>
              <a:rPr lang="en-US" sz="1600" dirty="0">
                <a:solidFill>
                  <a:srgbClr val="047954"/>
                </a:solidFill>
              </a:rPr>
              <a:t>].</a:t>
            </a:r>
          </a:p>
          <a:p>
            <a:r>
              <a:rPr lang="en-US" sz="1600" dirty="0">
                <a:solidFill>
                  <a:srgbClr val="047954"/>
                </a:solidFill>
              </a:rPr>
              <a:t>Dashboard development – [</a:t>
            </a:r>
            <a:r>
              <a:rPr lang="ar-EG" sz="1600" dirty="0">
                <a:solidFill>
                  <a:srgbClr val="047954"/>
                </a:solidFill>
              </a:rPr>
              <a:t>10/11/2025</a:t>
            </a:r>
            <a:r>
              <a:rPr lang="en-US" sz="1600" dirty="0">
                <a:solidFill>
                  <a:srgbClr val="047954"/>
                </a:solidFill>
              </a:rPr>
              <a:t>].</a:t>
            </a:r>
          </a:p>
          <a:p>
            <a:r>
              <a:rPr lang="en-US" sz="1600" dirty="0">
                <a:solidFill>
                  <a:srgbClr val="047954"/>
                </a:solidFill>
              </a:rPr>
              <a:t>Final report and documentation – [</a:t>
            </a:r>
            <a:r>
              <a:rPr lang="ar-EG" sz="1600" dirty="0">
                <a:solidFill>
                  <a:srgbClr val="047954"/>
                </a:solidFill>
              </a:rPr>
              <a:t>30/11/2025</a:t>
            </a:r>
            <a:r>
              <a:rPr lang="en-US" sz="1600" dirty="0">
                <a:solidFill>
                  <a:srgbClr val="047954"/>
                </a:solidFill>
              </a:rPr>
              <a:t>].</a:t>
            </a:r>
          </a:p>
          <a:p>
            <a:r>
              <a:rPr lang="en-US" sz="1600" b="1" dirty="0">
                <a:solidFill>
                  <a:srgbClr val="336EA8"/>
                </a:solidFill>
              </a:rPr>
              <a:t>Other Final Products:</a:t>
            </a:r>
            <a:endParaRPr lang="en-US" sz="1600" dirty="0">
              <a:solidFill>
                <a:srgbClr val="336EA8"/>
              </a:solidFill>
            </a:endParaRPr>
          </a:p>
          <a:p>
            <a:r>
              <a:rPr lang="en-US" sz="1600" dirty="0">
                <a:solidFill>
                  <a:srgbClr val="047954"/>
                </a:solidFill>
              </a:rPr>
              <a:t>Fully functional Power BI dashboard.</a:t>
            </a:r>
          </a:p>
          <a:p>
            <a:r>
              <a:rPr lang="en-US" sz="1600" dirty="0">
                <a:solidFill>
                  <a:srgbClr val="047954"/>
                </a:solidFill>
              </a:rPr>
              <a:t>Excel data files used for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1B82715F-0926-6649-A652-933A2660EA86}"/>
            </a:ext>
          </a:extLst>
        </p:cNvPr>
        <p:cNvGrpSpPr/>
        <p:nvPr/>
      </p:nvGrpSpPr>
      <p:grpSpPr>
        <a:xfrm>
          <a:off x="0" y="0"/>
          <a:ext cx="0" cy="0"/>
          <a:chOff x="0" y="0"/>
          <a:chExt cx="0" cy="0"/>
        </a:xfrm>
      </p:grpSpPr>
      <p:sp>
        <p:nvSpPr>
          <p:cNvPr id="223" name="Google Shape;223;p12">
            <a:extLst>
              <a:ext uri="{FF2B5EF4-FFF2-40B4-BE49-F238E27FC236}">
                <a16:creationId xmlns:a16="http://schemas.microsoft.com/office/drawing/2014/main" id="{5ED1FE8C-D6F0-0E18-38A2-C2102F533910}"/>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224" name="Google Shape;224;p12">
            <a:extLst>
              <a:ext uri="{FF2B5EF4-FFF2-40B4-BE49-F238E27FC236}">
                <a16:creationId xmlns:a16="http://schemas.microsoft.com/office/drawing/2014/main" id="{F826E970-9F64-21C9-CA8B-A1CCA4F67919}"/>
              </a:ext>
            </a:extLst>
          </p:cNvPr>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225" name="Google Shape;225;p12">
            <a:extLst>
              <a:ext uri="{FF2B5EF4-FFF2-40B4-BE49-F238E27FC236}">
                <a16:creationId xmlns:a16="http://schemas.microsoft.com/office/drawing/2014/main" id="{BD1CB7F1-3B4E-F619-89A1-60EC5E871A5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2" name="Google Shape;110;p1">
            <a:extLst>
              <a:ext uri="{FF2B5EF4-FFF2-40B4-BE49-F238E27FC236}">
                <a16:creationId xmlns:a16="http://schemas.microsoft.com/office/drawing/2014/main" id="{8A60597A-C1E9-E5B1-0B55-F9E8E509D7E3}"/>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4" name="TextBox 3">
            <a:extLst>
              <a:ext uri="{FF2B5EF4-FFF2-40B4-BE49-F238E27FC236}">
                <a16:creationId xmlns:a16="http://schemas.microsoft.com/office/drawing/2014/main" id="{36089E53-72E1-F2EB-9237-B3D6ED1F4A1D}"/>
              </a:ext>
            </a:extLst>
          </p:cNvPr>
          <p:cNvSpPr txBox="1"/>
          <p:nvPr/>
        </p:nvSpPr>
        <p:spPr>
          <a:xfrm>
            <a:off x="250723" y="1874729"/>
            <a:ext cx="8896964" cy="3139321"/>
          </a:xfrm>
          <a:prstGeom prst="rect">
            <a:avLst/>
          </a:prstGeom>
          <a:noFill/>
        </p:spPr>
        <p:txBody>
          <a:bodyPr wrap="square">
            <a:spAutoFit/>
          </a:bodyPr>
          <a:lstStyle/>
          <a:p>
            <a:pPr>
              <a:buNone/>
            </a:pPr>
            <a:r>
              <a:rPr lang="en-US" sz="1800" b="1" dirty="0">
                <a:solidFill>
                  <a:srgbClr val="336EA8"/>
                </a:solidFill>
              </a:rPr>
              <a:t>Core Team Members &amp; Roles:</a:t>
            </a:r>
            <a:endParaRPr lang="en-US" sz="1800" dirty="0">
              <a:solidFill>
                <a:srgbClr val="336EA8"/>
              </a:solidFill>
            </a:endParaRPr>
          </a:p>
          <a:p>
            <a:r>
              <a:rPr lang="en-US" sz="1800" b="1" dirty="0">
                <a:solidFill>
                  <a:srgbClr val="047954"/>
                </a:solidFill>
              </a:rPr>
              <a:t>Dina Ayman:</a:t>
            </a:r>
            <a:r>
              <a:rPr lang="en-US" sz="1800" dirty="0">
                <a:solidFill>
                  <a:srgbClr val="047954"/>
                </a:solidFill>
              </a:rPr>
              <a:t> </a:t>
            </a:r>
            <a:r>
              <a:rPr lang="en-US" sz="1800" dirty="0">
                <a:solidFill>
                  <a:srgbClr val="0FAB7D"/>
                </a:solidFill>
              </a:rPr>
              <a:t>Oversees project progress and deadlines</a:t>
            </a:r>
            <a:r>
              <a:rPr lang="en-US" sz="1800" dirty="0"/>
              <a:t>.</a:t>
            </a:r>
          </a:p>
          <a:p>
            <a:r>
              <a:rPr lang="en-US" sz="1800" b="1" dirty="0">
                <a:solidFill>
                  <a:srgbClr val="047954"/>
                </a:solidFill>
              </a:rPr>
              <a:t>Shahd Abdelnaby</a:t>
            </a:r>
            <a:r>
              <a:rPr lang="en-US" sz="1800" b="1" dirty="0">
                <a:solidFill>
                  <a:srgbClr val="0FAB7D"/>
                </a:solidFill>
              </a:rPr>
              <a:t>:</a:t>
            </a:r>
            <a:r>
              <a:rPr lang="en-US" sz="1800" dirty="0">
                <a:solidFill>
                  <a:srgbClr val="0FAB7D"/>
                </a:solidFill>
              </a:rPr>
              <a:t> Data Analyst – prepares, cleans, and analyzes the data.</a:t>
            </a:r>
          </a:p>
          <a:p>
            <a:r>
              <a:rPr lang="en-US" sz="1800" b="1" dirty="0">
                <a:solidFill>
                  <a:srgbClr val="047954"/>
                </a:solidFill>
              </a:rPr>
              <a:t>Esraa Atef:</a:t>
            </a:r>
            <a:r>
              <a:rPr lang="en-US" sz="1800" dirty="0">
                <a:solidFill>
                  <a:srgbClr val="047954"/>
                </a:solidFill>
              </a:rPr>
              <a:t> </a:t>
            </a:r>
            <a:r>
              <a:rPr lang="en-US" sz="1800" dirty="0">
                <a:solidFill>
                  <a:srgbClr val="0FAB7D"/>
                </a:solidFill>
              </a:rPr>
              <a:t>Dashboard Developer – creates and designs the Power BI dashboard.</a:t>
            </a:r>
          </a:p>
          <a:p>
            <a:r>
              <a:rPr lang="en-US" sz="1800" b="1" dirty="0">
                <a:solidFill>
                  <a:srgbClr val="047954"/>
                </a:solidFill>
              </a:rPr>
              <a:t>Ahmed Hamada:</a:t>
            </a:r>
            <a:r>
              <a:rPr lang="en-US" sz="1800" dirty="0">
                <a:solidFill>
                  <a:srgbClr val="047954"/>
                </a:solidFill>
              </a:rPr>
              <a:t> </a:t>
            </a:r>
            <a:r>
              <a:rPr lang="en-US" sz="1800" dirty="0">
                <a:solidFill>
                  <a:srgbClr val="0FAB7D"/>
                </a:solidFill>
              </a:rPr>
              <a:t>Documentation Specialist – writes reports and user guides.</a:t>
            </a:r>
          </a:p>
          <a:p>
            <a:r>
              <a:rPr lang="en-US" sz="1800" b="1" dirty="0">
                <a:solidFill>
                  <a:srgbClr val="047954"/>
                </a:solidFill>
              </a:rPr>
              <a:t>Mohamed Hussein:</a:t>
            </a:r>
            <a:r>
              <a:rPr lang="en-US" sz="1800" dirty="0">
                <a:solidFill>
                  <a:srgbClr val="047954"/>
                </a:solidFill>
              </a:rPr>
              <a:t> </a:t>
            </a:r>
            <a:r>
              <a:rPr lang="en-US" sz="1800" dirty="0">
                <a:solidFill>
                  <a:srgbClr val="0FAB7D"/>
                </a:solidFill>
              </a:rPr>
              <a:t>QA &amp; Support – tests the dashboard and ensures data accuracy.</a:t>
            </a:r>
          </a:p>
          <a:p>
            <a:r>
              <a:rPr lang="en-US" sz="1800" b="1" dirty="0">
                <a:solidFill>
                  <a:srgbClr val="047954"/>
                </a:solidFill>
              </a:rPr>
              <a:t>Dina Ayman:</a:t>
            </a:r>
            <a:r>
              <a:rPr lang="en-US" sz="1800" dirty="0">
                <a:solidFill>
                  <a:srgbClr val="047954"/>
                </a:solidFill>
              </a:rPr>
              <a:t> </a:t>
            </a:r>
            <a:r>
              <a:rPr lang="en-US" sz="1800" dirty="0">
                <a:solidFill>
                  <a:srgbClr val="0FAB7D"/>
                </a:solidFill>
              </a:rPr>
              <a:t>Oversees project progress and deadlines</a:t>
            </a:r>
            <a:r>
              <a:rPr lang="en-US" sz="1800" dirty="0"/>
              <a:t>.</a:t>
            </a:r>
          </a:p>
          <a:p>
            <a:endParaRPr lang="en-US" sz="1800" dirty="0">
              <a:solidFill>
                <a:srgbClr val="0FAB7D"/>
              </a:solidFill>
            </a:endParaRPr>
          </a:p>
          <a:p>
            <a:pPr>
              <a:buNone/>
            </a:pPr>
            <a:r>
              <a:rPr lang="en-US" sz="1800" b="1" dirty="0">
                <a:solidFill>
                  <a:srgbClr val="336EA8"/>
                </a:solidFill>
              </a:rPr>
              <a:t>Collaboration Methods:</a:t>
            </a:r>
            <a:endParaRPr lang="en-US" sz="1800" dirty="0">
              <a:solidFill>
                <a:srgbClr val="336EA8"/>
              </a:solidFill>
            </a:endParaRPr>
          </a:p>
          <a:p>
            <a:pPr>
              <a:buFont typeface="Arial" panose="020B0604020202020204" pitchFamily="34" charset="0"/>
              <a:buChar char="•"/>
            </a:pPr>
            <a:r>
              <a:rPr lang="en-US" sz="1800" dirty="0">
                <a:solidFill>
                  <a:srgbClr val="047954"/>
                </a:solidFill>
              </a:rPr>
              <a:t>Communication via </a:t>
            </a:r>
            <a:r>
              <a:rPr lang="en-US" sz="1800" b="1" dirty="0">
                <a:solidFill>
                  <a:srgbClr val="047954"/>
                </a:solidFill>
              </a:rPr>
              <a:t>WhatsApp and Google Meet</a:t>
            </a:r>
            <a:r>
              <a:rPr lang="en-US" sz="1800" dirty="0">
                <a:solidFill>
                  <a:srgbClr val="047954"/>
                </a:solidFill>
              </a:rPr>
              <a:t>.</a:t>
            </a:r>
          </a:p>
          <a:p>
            <a:pPr>
              <a:buFont typeface="Arial" panose="020B0604020202020204" pitchFamily="34" charset="0"/>
              <a:buChar char="•"/>
            </a:pPr>
            <a:r>
              <a:rPr lang="en-US" sz="1800" dirty="0">
                <a:solidFill>
                  <a:srgbClr val="047954"/>
                </a:solidFill>
              </a:rPr>
              <a:t>File sharing via </a:t>
            </a:r>
            <a:r>
              <a:rPr lang="en-US" sz="1800" b="1" dirty="0">
                <a:solidFill>
                  <a:srgbClr val="047954"/>
                </a:solidFill>
              </a:rPr>
              <a:t>Google Drive</a:t>
            </a:r>
            <a:r>
              <a:rPr lang="en-US" sz="1800" dirty="0">
                <a:solidFill>
                  <a:srgbClr val="047954"/>
                </a:solidFill>
              </a:rPr>
              <a:t>.</a:t>
            </a:r>
          </a:p>
        </p:txBody>
      </p:sp>
    </p:spTree>
    <p:extLst>
      <p:ext uri="{BB962C8B-B14F-4D97-AF65-F5344CB8AC3E}">
        <p14:creationId xmlns:p14="http://schemas.microsoft.com/office/powerpoint/2010/main" val="2645409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35A43ACF-7867-A61E-2DB6-4883BF85347F}"/>
            </a:ext>
          </a:extLst>
        </p:cNvPr>
        <p:cNvGrpSpPr/>
        <p:nvPr/>
      </p:nvGrpSpPr>
      <p:grpSpPr>
        <a:xfrm>
          <a:off x="0" y="0"/>
          <a:ext cx="0" cy="0"/>
          <a:chOff x="0" y="0"/>
          <a:chExt cx="0" cy="0"/>
        </a:xfrm>
      </p:grpSpPr>
      <p:sp>
        <p:nvSpPr>
          <p:cNvPr id="223" name="Google Shape;223;p12">
            <a:extLst>
              <a:ext uri="{FF2B5EF4-FFF2-40B4-BE49-F238E27FC236}">
                <a16:creationId xmlns:a16="http://schemas.microsoft.com/office/drawing/2014/main" id="{F143CD90-9B4E-88EA-2745-58379207CFAE}"/>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224" name="Google Shape;224;p12">
            <a:extLst>
              <a:ext uri="{FF2B5EF4-FFF2-40B4-BE49-F238E27FC236}">
                <a16:creationId xmlns:a16="http://schemas.microsoft.com/office/drawing/2014/main" id="{41A7D9A6-B578-F9C2-CC78-2C3967078D9F}"/>
              </a:ext>
            </a:extLst>
          </p:cNvPr>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225" name="Google Shape;225;p12">
            <a:extLst>
              <a:ext uri="{FF2B5EF4-FFF2-40B4-BE49-F238E27FC236}">
                <a16:creationId xmlns:a16="http://schemas.microsoft.com/office/drawing/2014/main" id="{AE4E9CDB-56A5-40C4-2085-B37C552ED65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2" name="Google Shape;110;p1">
            <a:extLst>
              <a:ext uri="{FF2B5EF4-FFF2-40B4-BE49-F238E27FC236}">
                <a16:creationId xmlns:a16="http://schemas.microsoft.com/office/drawing/2014/main" id="{066EB28C-E7F7-EFAC-965D-34B644DCC795}"/>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hlinkClick r:id="rId4"/>
            <a:extLst>
              <a:ext uri="{FF2B5EF4-FFF2-40B4-BE49-F238E27FC236}">
                <a16:creationId xmlns:a16="http://schemas.microsoft.com/office/drawing/2014/main" id="{AC2B888C-F19A-B569-EC9F-B5FE4580082C}"/>
              </a:ext>
            </a:extLst>
          </p:cNvPr>
          <p:cNvSpPr txBox="1"/>
          <p:nvPr/>
        </p:nvSpPr>
        <p:spPr>
          <a:xfrm>
            <a:off x="381000" y="1666567"/>
            <a:ext cx="8022801" cy="2585323"/>
          </a:xfrm>
          <a:prstGeom prst="rect">
            <a:avLst/>
          </a:prstGeom>
          <a:noFill/>
        </p:spPr>
        <p:txBody>
          <a:bodyPr wrap="square" rtlCol="0">
            <a:spAutoFit/>
          </a:bodyPr>
          <a:lstStyle/>
          <a:p>
            <a:r>
              <a:rPr lang="en-US" sz="1800" b="1" dirty="0">
                <a:solidFill>
                  <a:srgbClr val="047954"/>
                </a:solidFill>
              </a:rPr>
              <a:t>Shahd Abdelnaby: </a:t>
            </a:r>
            <a:r>
              <a:rPr lang="en-US" sz="1800" b="1" dirty="0">
                <a:hlinkClick r:id="rId5"/>
              </a:rPr>
              <a:t>www.linkedin.com/in/shahd-abdelnaaby/</a:t>
            </a:r>
            <a:endParaRPr lang="en-US" sz="1800" b="1" dirty="0"/>
          </a:p>
          <a:p>
            <a:endParaRPr lang="en-US" sz="1800" b="1" dirty="0"/>
          </a:p>
          <a:p>
            <a:r>
              <a:rPr lang="en-US" sz="1800" b="1" dirty="0">
                <a:solidFill>
                  <a:srgbClr val="047954"/>
                </a:solidFill>
              </a:rPr>
              <a:t>Esraa</a:t>
            </a:r>
            <a:r>
              <a:rPr lang="en-US" sz="1800" b="1" dirty="0"/>
              <a:t> </a:t>
            </a:r>
            <a:r>
              <a:rPr lang="en-US" sz="1800" b="1" dirty="0">
                <a:solidFill>
                  <a:srgbClr val="047954"/>
                </a:solidFill>
              </a:rPr>
              <a:t>Atef</a:t>
            </a:r>
            <a:r>
              <a:rPr lang="en-US" sz="1800" b="1" dirty="0"/>
              <a:t>: </a:t>
            </a:r>
            <a:r>
              <a:rPr lang="en-US" sz="1800" b="1" dirty="0">
                <a:hlinkClick r:id="rId6"/>
              </a:rPr>
              <a:t>www.linkedin.com/in/esraa-atef-5a821430b/</a:t>
            </a:r>
            <a:endParaRPr lang="en-US" sz="1800" b="1" dirty="0"/>
          </a:p>
          <a:p>
            <a:endParaRPr lang="en-US" sz="1800" b="1" dirty="0"/>
          </a:p>
          <a:p>
            <a:r>
              <a:rPr lang="en-US" sz="1800" b="1" dirty="0">
                <a:solidFill>
                  <a:srgbClr val="047954"/>
                </a:solidFill>
              </a:rPr>
              <a:t>Ahmed</a:t>
            </a:r>
            <a:r>
              <a:rPr lang="en-US" sz="1800" b="1" dirty="0"/>
              <a:t> </a:t>
            </a:r>
            <a:r>
              <a:rPr lang="en-US" sz="1800" b="1" dirty="0">
                <a:solidFill>
                  <a:srgbClr val="047954"/>
                </a:solidFill>
              </a:rPr>
              <a:t>Hamada</a:t>
            </a:r>
            <a:r>
              <a:rPr lang="en-US" sz="1800" b="1" dirty="0"/>
              <a:t>: </a:t>
            </a:r>
            <a:r>
              <a:rPr lang="en-US" sz="1800" b="1" dirty="0">
                <a:hlinkClick r:id="rId7"/>
              </a:rPr>
              <a:t>www.linkedin.com/in/ahmed-hamada-farag-a48b77378/</a:t>
            </a:r>
            <a:endParaRPr lang="en-US" sz="1800" b="1" dirty="0"/>
          </a:p>
          <a:p>
            <a:endParaRPr lang="en-US" sz="1800" b="1" dirty="0"/>
          </a:p>
          <a:p>
            <a:r>
              <a:rPr lang="en-US" sz="1800" b="1" dirty="0">
                <a:solidFill>
                  <a:srgbClr val="047954"/>
                </a:solidFill>
              </a:rPr>
              <a:t>Dina</a:t>
            </a:r>
            <a:r>
              <a:rPr lang="en-US" sz="1800" b="1" dirty="0">
                <a:solidFill>
                  <a:srgbClr val="00B050"/>
                </a:solidFill>
              </a:rPr>
              <a:t> </a:t>
            </a:r>
            <a:r>
              <a:rPr lang="en-US" sz="1800" b="1" dirty="0">
                <a:solidFill>
                  <a:srgbClr val="047954"/>
                </a:solidFill>
              </a:rPr>
              <a:t>Ayman</a:t>
            </a:r>
            <a:r>
              <a:rPr lang="en-US" sz="1800" b="1" dirty="0">
                <a:solidFill>
                  <a:srgbClr val="00B050"/>
                </a:solidFill>
              </a:rPr>
              <a:t>: </a:t>
            </a:r>
            <a:r>
              <a:rPr lang="en-US" sz="1800" b="1" dirty="0">
                <a:hlinkClick r:id="rId8"/>
              </a:rPr>
              <a:t>www.linkedin.com/in/dina-ayman-darwish-a85405355/</a:t>
            </a:r>
            <a:endParaRPr lang="en-US" sz="1800" b="1" dirty="0"/>
          </a:p>
          <a:p>
            <a:endParaRPr lang="en-US" sz="1800" b="1" dirty="0"/>
          </a:p>
          <a:p>
            <a:r>
              <a:rPr lang="en-US" sz="1800" b="1" dirty="0">
                <a:solidFill>
                  <a:srgbClr val="047954"/>
                </a:solidFill>
              </a:rPr>
              <a:t>Mohamed</a:t>
            </a:r>
            <a:r>
              <a:rPr lang="en-US" sz="1800" b="1" dirty="0">
                <a:solidFill>
                  <a:srgbClr val="00B050"/>
                </a:solidFill>
              </a:rPr>
              <a:t> </a:t>
            </a:r>
            <a:r>
              <a:rPr lang="en-US" sz="1800" b="1" dirty="0">
                <a:solidFill>
                  <a:srgbClr val="047954"/>
                </a:solidFill>
              </a:rPr>
              <a:t>Hussain</a:t>
            </a:r>
            <a:r>
              <a:rPr lang="en-US" sz="1800" b="1" dirty="0">
                <a:solidFill>
                  <a:srgbClr val="00B050"/>
                </a:solidFill>
              </a:rPr>
              <a:t>:</a:t>
            </a:r>
          </a:p>
        </p:txBody>
      </p:sp>
    </p:spTree>
    <p:extLst>
      <p:ext uri="{BB962C8B-B14F-4D97-AF65-F5344CB8AC3E}">
        <p14:creationId xmlns:p14="http://schemas.microsoft.com/office/powerpoint/2010/main" val="37284085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393</TotalTime>
  <Words>926</Words>
  <Application>Microsoft Office PowerPoint</Application>
  <PresentationFormat>Widescreen</PresentationFormat>
  <Paragraphs>78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Open Sans</vt:lpstr>
      <vt:lpstr>Calibri</vt:lpstr>
      <vt:lpstr>Arial</vt:lpstr>
      <vt:lpstr>Office Theme</vt:lpstr>
      <vt:lpstr>PowerPoint Presentation</vt:lpstr>
      <vt:lpstr>Renewable Energy Suitability Analysis</vt:lpstr>
      <vt:lpstr>1. Problem Being Solved Choosing the right locations to install solar or wind energy systems is difficult because every area has different environmental conditions. Some places have high sunlight (DNI), others have strong wind (MS50M), while some have high humidity or temperature that reduce efficiency. So, without proper analysis, decisions can be inaccurate and expensive.  2. Proposed Solution (Our High-Level Idea) We analyzed 15 different locations using key environmental indicators: DNI, Wind Speed (MS50M), KT, Humidity (R2HM), Temperature (T2M), and Wind Range. We cleaned the data, normalized it, scored every location, and compared them in Power BI. This allows us to clearly identify: Best locations for solar energy Best locations for wind energy Best locations for a hybrid system (solar + wind)  3. Unique Value of Our Project (Why It Stands Out) We combined solar + wind + hybrid analysis in one project (rare and more impactful). We used a multi-criteria scoring model, making the ranking accurate and reliable. We built an interactive Power BI dashboard that allows users to explore every location easily. Our model helps decision-makers choose the best sites faster and reduce investment risks. The approach is scalable — we can apply it to 100+ locations in the future. </vt:lpstr>
      <vt:lpstr>This dashboard presents an overview of renewable energy resources across 15 locations in Egypt. It analyzes average solar irradiance, wind speed, and atmospheric clearness, while also comparing regions to identify the most suitable sites for solar and wind energy projects. The results highlight that areas like Ras Ghareb and Jabal El Zeit have exceptional wind potential, while southern regions show strong solar resources, supporting strategic planning for renewable energy development. </vt:lpstr>
      <vt:lpstr>End Users Government Energy Planners Renewable Energy Developers Investors Researchers &amp; Data Analysts  Key Features Interactive dashboards Regional solar &amp; wind comparison Time-series analysis KPI summary indicators (DNI, WS50M, KT) Filtering &amp; customization tools Visual gauges for quick insights  How Features Address User Needs Government Planners: Regional comparison charts help identify the most suitable locations for renewable energy projects. Energy Developers: Time-series trends support forecasting, planning, and evaluating resource stability over the years. Investors: KPI summary cards and gauges provide clear, fast insights needed for investment decisions. Researchers &amp; Analysts: Interactive filters and detailed visualizations enable in-depth exploration of solar and wind resource data. </vt:lpstr>
      <vt:lpstr>Database Architecture: Relational Database: Data is organized in tables linked by Location.  Key Tables (Entities): Location: Information about each of the 15 regions. Parameters: Types of measured data (e.g., solar, wind, clearness index). ALL_DATA: Annual values for each Parameter for each Location.  Relationships: One-to-Many: Each Location in the Location table is linked to multiple records in ALL_DATA. All tables are connected through Location to ensure consistency and facilitate analysis.  </vt:lpstr>
      <vt:lpstr>Main Tools: Excel: Data storage, processing, and basic analysis. Power BI: Data visualization and dashboard creation. Supporting Technologies: No additional programming languages or frameworks used.</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SAMA</dc:creator>
  <cp:lastModifiedBy>Shahd Abdelnaby Awaad Godaa</cp:lastModifiedBy>
  <cp:revision>5</cp:revision>
  <dcterms:created xsi:type="dcterms:W3CDTF">2024-03-14T10:03:54Z</dcterms:created>
  <dcterms:modified xsi:type="dcterms:W3CDTF">2025-11-30T21:39:46Z</dcterms:modified>
</cp:coreProperties>
</file>